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amai.in" TargetMode="External"/><Relationship Id="rId3" Type="http://schemas.openxmlformats.org/officeDocument/2006/relationships/hyperlink" Target="https://dhsprogram.com/pubs/pdf/FR375/FR375.pdf" TargetMode="External"/><Relationship Id="rId4" Type="http://schemas.openxmlformats.org/officeDocument/2006/relationships/hyperlink" Target="https://arxiv.org/abs/1804.01473" TargetMode="External"/><Relationship Id="rId5" Type="http://schemas.openxmlformats.org/officeDocument/2006/relationships/hyperlink" Target="https://arxiv.org/abs/2005.09784" TargetMode="External"/><Relationship Id="rId6" Type="http://schemas.openxmlformats.org/officeDocument/2006/relationships/hyperlink" Target="https://arxiv.org/abs/1909.08740" TargetMode="External"/><Relationship Id="rId7" Type="http://schemas.openxmlformats.org/officeDocument/2006/relationships/hyperlink" Target="https://arxiv.org/abs/1911.12237" TargetMode="External"/><Relationship Id="rId8" Type="http://schemas.openxmlformats.org/officeDocument/2006/relationships/hyperlink" Target="https://arxiv.org/abs/2109.02492" TargetMode="External"/><Relationship Id="rId9" Type="http://schemas.openxmlformats.org/officeDocument/2006/relationships/hyperlink" Target="https://arxiv.org/abs/2109.10862" TargetMode="External"/><Relationship Id="rId10" Type="http://schemas.openxmlformats.org/officeDocument/2006/relationships/hyperlink" Target="https://arxiv.org/abs/2107.03175" TargetMode="External"/><Relationship Id="rId11" Type="http://schemas.openxmlformats.org/officeDocument/2006/relationships/hyperlink" Target="https://arxiv.org/abs/2005.11401" TargetMode="External"/><Relationship Id="rId12" Type="http://schemas.openxmlformats.org/officeDocument/2006/relationships/hyperlink" Target="https://arxiv.org/abs/2212.04356" TargetMode="External"/><Relationship Id="rId13" Type="http://schemas.openxmlformats.org/officeDocument/2006/relationships/hyperlink" Target="https://arxiv.org/abs/2305.16307" TargetMode="External"/><Relationship Id="rId14" Type="http://schemas.openxmlformats.org/officeDocument/2006/relationships/hyperlink" Target="https://arxiv.org/abs/1912.08777" TargetMode="External"/><Relationship Id="rId15" Type="http://schemas.openxmlformats.org/officeDocument/2006/relationships/hyperlink" Target="https://www.w3.org/TR/WCAG22/" TargetMode="External"/><Relationship Id="rId16" Type="http://schemas.openxmlformats.org/officeDocument/2006/relationships/hyperlink" Target="https://prsindia.org/billtrack/digital-personal-data-protection-bill-2023" TargetMode="External"/><Relationship Id="rId17" Type="http://schemas.openxmlformats.org/officeDocument/2006/relationships/hyperlink" Target="https://github.com/WhiskeySockets/Baileys" TargetMode="External"/><Relationship Id="rId18" Type="http://schemas.openxmlformats.org/officeDocument/2006/relationships/hyperlink" Target="https://ollama.com" TargetMode="External"/><Relationship Id="rId19" Type="http://schemas.openxmlformats.org/officeDocument/2006/relationships/hyperlink" Target="https://bhashini.gov.in" TargetMode="External"/><Relationship Id="rId20" Type="http://schemas.openxmlformats.org/officeDocument/2006/relationships/hyperlink" Target="https://developers.facebook.com/docs/whatsapp"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82880" y="91440"/>
            <a:ext cx="868680" cy="868680"/>
          </a:xfrm>
          <a:prstGeom prst="ellipse">
            <a:avLst/>
          </a:prstGeom>
          <a:solidFill>
            <a:srgbClr val="333652"/>
          </a:solidFill>
          <a:ln w="25400">
            <a:solidFill>
              <a:srgbClr val="57C99A"/>
            </a:solid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0000"/>
              </a:lnSpc>
              <a:spcAft>
                <a:spcPts val="0"/>
              </a:spcAft>
            </a:pPr>
            <a:r>
              <a:rPr sz="1300" b="1">
                <a:solidFill>
                  <a:srgbClr val="FFFFFF"/>
                </a:solidFill>
                <a:latin typeface="Arial"/>
              </a:rPr>
              <a:t>SAAR</a:t>
            </a:r>
          </a:p>
          <a:p>
            <a:pPr algn="ctr">
              <a:lnSpc>
                <a:spcPct val="90000"/>
              </a:lnSpc>
              <a:spcAft>
                <a:spcPts val="0"/>
              </a:spcAft>
            </a:pPr>
            <a:r>
              <a:rPr sz="800" b="1">
                <a:solidFill>
                  <a:srgbClr val="57C99A"/>
                </a:solidFill>
                <a:latin typeface="Arial"/>
              </a:rPr>
              <a:t>सार</a:t>
            </a:r>
          </a:p>
          <a:p>
            <a:pPr algn="ctr">
              <a:lnSpc>
                <a:spcPct val="90000"/>
              </a:lnSpc>
              <a:spcAft>
                <a:spcPts val="0"/>
              </a:spcAft>
            </a:pPr>
            <a:r>
              <a:rPr sz="450" b="1">
                <a:solidFill>
                  <a:srgbClr val="FFFFFF"/>
                </a:solidFill>
                <a:latin typeface="Arial"/>
              </a:rPr>
              <a:t>GROUP DIGEST</a:t>
            </a:r>
          </a:p>
        </p:txBody>
      </p:sp>
      <p:sp>
        <p:nvSpPr>
          <p:cNvPr id="3" name="TextBox 2"/>
          <p:cNvSpPr txBox="1"/>
          <p:nvPr/>
        </p:nvSpPr>
        <p:spPr>
          <a:xfrm>
            <a:off x="1188720" y="73152"/>
            <a:ext cx="9784080" cy="841248"/>
          </a:xfrm>
          <a:prstGeom prst="rect">
            <a:avLst/>
          </a:prstGeom>
          <a:noFill/>
        </p:spPr>
        <p:txBody>
          <a:bodyPr wrap="square" lIns="18288" rIns="18288" tIns="0" bIns="0" anchor="ctr">
            <a:spAutoFit/>
          </a:bodyPr>
          <a:lstStyle/>
          <a:p>
            <a:pPr algn="ctr">
              <a:lnSpc>
                <a:spcPct val="95000"/>
              </a:lnSpc>
              <a:spcAft>
                <a:spcPts val="0"/>
              </a:spcAft>
            </a:pPr>
            <a:r>
              <a:rPr sz="3100" b="1">
                <a:solidFill>
                  <a:srgbClr val="000000"/>
                </a:solidFill>
                <a:latin typeface="Times New Roman"/>
              </a:rPr>
              <a:t>TITLE PAGE</a:t>
            </a:r>
          </a:p>
        </p:txBody>
      </p:sp>
      <p:sp>
        <p:nvSpPr>
          <p:cNvPr id="4" name="Rectangle 3"/>
          <p:cNvSpPr/>
          <p:nvPr/>
        </p:nvSpPr>
        <p:spPr>
          <a:xfrm>
            <a:off x="0" y="6345936"/>
            <a:ext cx="12191695" cy="51206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1100" b="0">
                <a:solidFill>
                  <a:srgbClr val="FFFFFF"/>
                </a:solidFill>
                <a:latin typeface="Arial"/>
              </a:rPr>
              <a:t>@Idea Submission   |   Theme: Social Innovation &amp; Inclusive Development</a:t>
            </a:r>
          </a:p>
        </p:txBody>
      </p:sp>
      <p:sp>
        <p:nvSpPr>
          <p:cNvPr id="5" name="TextBox 4"/>
          <p:cNvSpPr txBox="1"/>
          <p:nvPr/>
        </p:nvSpPr>
        <p:spPr>
          <a:xfrm>
            <a:off x="11430000" y="6464808"/>
            <a:ext cx="566928" cy="274320"/>
          </a:xfrm>
          <a:prstGeom prst="rect">
            <a:avLst/>
          </a:prstGeom>
          <a:noFill/>
        </p:spPr>
        <p:txBody>
          <a:bodyPr wrap="square" lIns="18288" rIns="18288" tIns="0" bIns="0" anchor="ctr">
            <a:spAutoFit/>
          </a:bodyPr>
          <a:lstStyle/>
          <a:p>
            <a:pPr algn="r">
              <a:lnSpc>
                <a:spcPct val="95000"/>
              </a:lnSpc>
              <a:spcAft>
                <a:spcPts val="0"/>
              </a:spcAft>
            </a:pPr>
            <a:r>
              <a:rPr sz="1300" b="1">
                <a:solidFill>
                  <a:srgbClr val="FFFFFF"/>
                </a:solidFill>
                <a:latin typeface="Arial"/>
              </a:rPr>
              <a:t>1</a:t>
            </a:r>
          </a:p>
        </p:txBody>
      </p:sp>
      <p:sp>
        <p:nvSpPr>
          <p:cNvPr id="6" name="TextBox 5"/>
          <p:cNvSpPr txBox="1"/>
          <p:nvPr/>
        </p:nvSpPr>
        <p:spPr>
          <a:xfrm>
            <a:off x="502920" y="1078992"/>
            <a:ext cx="6217920" cy="3337560"/>
          </a:xfrm>
          <a:prstGeom prst="rect">
            <a:avLst/>
          </a:prstGeom>
          <a:noFill/>
        </p:spPr>
        <p:txBody>
          <a:bodyPr wrap="square" lIns="18288" rIns="18288" tIns="0" bIns="0" anchor="t">
            <a:spAutoFit/>
          </a:bodyPr>
          <a:lstStyle/>
          <a:p>
            <a:pPr algn="l">
              <a:lnSpc>
                <a:spcPct val="115000"/>
              </a:lnSpc>
              <a:spcAft>
                <a:spcPts val="2000"/>
              </a:spcAft>
            </a:pPr>
            <a:r>
              <a:rPr sz="1350" b="1">
                <a:solidFill>
                  <a:srgbClr val="000000"/>
                </a:solidFill>
                <a:latin typeface="Arial"/>
              </a:rPr>
              <a:t>•  Problem Statement ID  –  &lt;fill in&gt;</a:t>
            </a:r>
          </a:p>
          <a:p>
            <a:pPr algn="l">
              <a:lnSpc>
                <a:spcPct val="115000"/>
              </a:lnSpc>
              <a:spcAft>
                <a:spcPts val="2000"/>
              </a:spcAft>
            </a:pPr>
            <a:r>
              <a:rPr sz="1350" b="1">
                <a:solidFill>
                  <a:srgbClr val="000000"/>
                </a:solidFill>
                <a:latin typeface="Arial"/>
              </a:rPr>
              <a:t>•  Problem Statement Title  –  SAAR: an inclusive, private AI digest for the community WhatsApp groups people actually live in</a:t>
            </a:r>
          </a:p>
          <a:p>
            <a:pPr algn="l">
              <a:lnSpc>
                <a:spcPct val="115000"/>
              </a:lnSpc>
              <a:spcAft>
                <a:spcPts val="2000"/>
              </a:spcAft>
            </a:pPr>
            <a:r>
              <a:rPr sz="1350" b="1">
                <a:solidFill>
                  <a:srgbClr val="000000"/>
                </a:solidFill>
                <a:latin typeface="Arial"/>
              </a:rPr>
              <a:t>•  Theme  –  Social Innovation &amp; Inclusive Development</a:t>
            </a:r>
          </a:p>
          <a:p>
            <a:pPr algn="l">
              <a:lnSpc>
                <a:spcPct val="115000"/>
              </a:lnSpc>
              <a:spcAft>
                <a:spcPts val="2000"/>
              </a:spcAft>
            </a:pPr>
            <a:r>
              <a:rPr sz="1350" b="1">
                <a:solidFill>
                  <a:srgbClr val="000000"/>
                </a:solidFill>
                <a:latin typeface="Arial"/>
              </a:rPr>
              <a:t>•  PS Category  –  Software</a:t>
            </a:r>
          </a:p>
          <a:p>
            <a:pPr algn="l">
              <a:lnSpc>
                <a:spcPct val="115000"/>
              </a:lnSpc>
              <a:spcAft>
                <a:spcPts val="2000"/>
              </a:spcAft>
            </a:pPr>
            <a:r>
              <a:rPr sz="1350" b="1">
                <a:solidFill>
                  <a:srgbClr val="000000"/>
                </a:solidFill>
                <a:latin typeface="Arial"/>
              </a:rPr>
              <a:t>•  Team ID  –  &lt;fill in&gt;</a:t>
            </a:r>
          </a:p>
          <a:p>
            <a:pPr algn="l">
              <a:lnSpc>
                <a:spcPct val="115000"/>
              </a:lnSpc>
              <a:spcAft>
                <a:spcPts val="0"/>
              </a:spcAft>
            </a:pPr>
            <a:r>
              <a:rPr sz="1350" b="1">
                <a:solidFill>
                  <a:srgbClr val="000000"/>
                </a:solidFill>
                <a:latin typeface="Arial"/>
              </a:rPr>
              <a:t>•  Team Name  –  &lt;fill in&gt;</a:t>
            </a:r>
          </a:p>
        </p:txBody>
      </p:sp>
      <p:sp>
        <p:nvSpPr>
          <p:cNvPr id="7" name="Rounded Rectangle 6"/>
          <p:cNvSpPr/>
          <p:nvPr/>
        </p:nvSpPr>
        <p:spPr>
          <a:xfrm>
            <a:off x="502920" y="4572000"/>
            <a:ext cx="6217920" cy="960120"/>
          </a:xfrm>
          <a:prstGeom prst="roundRect">
            <a:avLst>
              <a:gd name="adj" fmla="val 10000"/>
            </a:avLst>
          </a:prstGeom>
          <a:solidFill>
            <a:srgbClr val="E2F4F8"/>
          </a:solidFill>
          <a:ln w="9525">
            <a:solidFill>
              <a:srgbClr val="2E6C8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400"/>
              </a:spcAft>
            </a:pPr>
            <a:r>
              <a:rPr sz="1050" b="1">
                <a:solidFill>
                  <a:srgbClr val="2E6C8B"/>
                </a:solidFill>
                <a:latin typeface="Arial"/>
              </a:rPr>
              <a:t>WORKING PROTOTYPE ALREADY RUNNING</a:t>
            </a:r>
          </a:p>
          <a:p>
            <a:pPr algn="ctr">
              <a:lnSpc>
                <a:spcPct val="95000"/>
              </a:lnSpc>
              <a:spcAft>
                <a:spcPts val="0"/>
              </a:spcAft>
            </a:pPr>
            <a:r>
              <a:rPr sz="869" b="0">
                <a:solidFill>
                  <a:srgbClr val="000000"/>
                </a:solidFill>
                <a:latin typeface="Arial"/>
              </a:rPr>
              <a:t>Ingestion → local SQLite store → chunked map-reduce summariser → digest in self-chat → dashboard → jump-to-message extension</a:t>
            </a:r>
          </a:p>
        </p:txBody>
      </p:sp>
      <p:sp>
        <p:nvSpPr>
          <p:cNvPr id="8" name="TextBox 7"/>
          <p:cNvSpPr txBox="1"/>
          <p:nvPr/>
        </p:nvSpPr>
        <p:spPr>
          <a:xfrm>
            <a:off x="548640" y="5715000"/>
            <a:ext cx="6217920" cy="320040"/>
          </a:xfrm>
          <a:prstGeom prst="rect">
            <a:avLst/>
          </a:prstGeom>
          <a:noFill/>
        </p:spPr>
        <p:txBody>
          <a:bodyPr wrap="square" lIns="18288" rIns="18288" tIns="0" bIns="0" anchor="ctr">
            <a:spAutoFit/>
          </a:bodyPr>
          <a:lstStyle/>
          <a:p>
            <a:pPr algn="l">
              <a:lnSpc>
                <a:spcPct val="95000"/>
              </a:lnSpc>
              <a:spcAft>
                <a:spcPts val="0"/>
              </a:spcAft>
            </a:pPr>
            <a:r>
              <a:rPr sz="1300" b="1">
                <a:solidFill>
                  <a:srgbClr val="1F497D"/>
                </a:solidFill>
                <a:latin typeface="Arial"/>
              </a:rPr>
              <a:t>▶  Demo video link          🔗  Detailed flowchart</a:t>
            </a:r>
          </a:p>
        </p:txBody>
      </p:sp>
      <p:sp>
        <p:nvSpPr>
          <p:cNvPr id="9" name="Rounded Rectangle 8"/>
          <p:cNvSpPr/>
          <p:nvPr/>
        </p:nvSpPr>
        <p:spPr>
          <a:xfrm>
            <a:off x="6903720" y="1051560"/>
            <a:ext cx="5074920" cy="475488"/>
          </a:xfrm>
          <a:prstGeom prst="roundRect">
            <a:avLst>
              <a:gd name="adj" fmla="val 10000"/>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1250" b="1">
                <a:solidFill>
                  <a:srgbClr val="FFFFFF"/>
                </a:solidFill>
                <a:latin typeface="Arial"/>
              </a:rPr>
              <a:t>500 unread messages   →   5 lines you can act on</a:t>
            </a:r>
          </a:p>
        </p:txBody>
      </p:sp>
      <p:sp>
        <p:nvSpPr>
          <p:cNvPr id="10" name="Rounded Rectangle 9"/>
          <p:cNvSpPr/>
          <p:nvPr/>
        </p:nvSpPr>
        <p:spPr>
          <a:xfrm>
            <a:off x="6903720" y="1664208"/>
            <a:ext cx="2148840" cy="2331720"/>
          </a:xfrm>
          <a:prstGeom prst="roundRect">
            <a:avLst>
              <a:gd name="adj" fmla="val 10000"/>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400"/>
              </a:spcAft>
            </a:pPr>
            <a:r>
              <a:rPr sz="900" b="1">
                <a:solidFill>
                  <a:srgbClr val="333652"/>
                </a:solidFill>
                <a:latin typeface="Arial"/>
              </a:rPr>
              <a:t>School Parents Group</a:t>
            </a:r>
          </a:p>
          <a:p>
            <a:pPr algn="ctr">
              <a:lnSpc>
                <a:spcPct val="95000"/>
              </a:lnSpc>
              <a:spcAft>
                <a:spcPts val="500"/>
              </a:spcAft>
            </a:pPr>
            <a:r>
              <a:rPr sz="1600" b="1">
                <a:solidFill>
                  <a:srgbClr val="E65853"/>
                </a:solidFill>
                <a:latin typeface="Arial"/>
              </a:rPr>
              <a:t>487 unread</a:t>
            </a:r>
          </a:p>
          <a:p>
            <a:pPr algn="ctr">
              <a:lnSpc>
                <a:spcPct val="95000"/>
              </a:lnSpc>
              <a:spcAft>
                <a:spcPts val="500"/>
              </a:spcAft>
            </a:pPr>
            <a:r>
              <a:rPr sz="800" b="0">
                <a:solidFill>
                  <a:srgbClr val="000000"/>
                </a:solidFill>
                <a:latin typeface="Arial"/>
              </a:rPr>
              <a:t>forwards · stickers · good-morning
images · 6 voice notes · one fee deadline buried at message 213</a:t>
            </a:r>
          </a:p>
          <a:p>
            <a:pPr algn="ctr">
              <a:lnSpc>
                <a:spcPct val="95000"/>
              </a:lnSpc>
              <a:spcAft>
                <a:spcPts val="0"/>
              </a:spcAft>
            </a:pPr>
            <a:r>
              <a:rPr sz="850" b="1">
                <a:solidFill>
                  <a:srgbClr val="1F497D"/>
                </a:solidFill>
                <a:latin typeface="Arial"/>
              </a:rPr>
              <a:t>Scrolling is a privilege of time.</a:t>
            </a:r>
          </a:p>
        </p:txBody>
      </p:sp>
      <p:sp>
        <p:nvSpPr>
          <p:cNvPr id="11" name="Right Arrow 10"/>
          <p:cNvSpPr/>
          <p:nvPr/>
        </p:nvSpPr>
        <p:spPr>
          <a:xfrm>
            <a:off x="9144000" y="2606040"/>
            <a:ext cx="402336" cy="457200"/>
          </a:xfrm>
          <a:prstGeom prst="rightArrow">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46920" y="1664208"/>
            <a:ext cx="2331720" cy="2331720"/>
          </a:xfrm>
          <a:prstGeom prst="roundRect">
            <a:avLst>
              <a:gd name="adj" fmla="val 10000"/>
            </a:avLst>
          </a:prstGeom>
          <a:solidFill>
            <a:srgbClr val="E2F4F8"/>
          </a:solidFill>
          <a:ln w="9525">
            <a:solidFill>
              <a:srgbClr val="2E6C8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500"/>
              </a:spcAft>
            </a:pPr>
            <a:r>
              <a:rPr sz="950" b="1">
                <a:solidFill>
                  <a:srgbClr val="2E6C8B"/>
                </a:solidFill>
                <a:latin typeface="Arial"/>
              </a:rPr>
              <a:t>TODAY'S DIGEST</a:t>
            </a:r>
          </a:p>
          <a:p>
            <a:pPr algn="l">
              <a:lnSpc>
                <a:spcPct val="95000"/>
              </a:lnSpc>
              <a:spcAft>
                <a:spcPts val="400"/>
              </a:spcAft>
            </a:pPr>
            <a:r>
              <a:rPr sz="800" b="1">
                <a:solidFill>
                  <a:srgbClr val="000000"/>
                </a:solidFill>
                <a:latin typeface="Arial"/>
              </a:rPr>
              <a:t>1.  Fee of ₹1,200 due Fri 5 pm. [12]</a:t>
            </a:r>
          </a:p>
          <a:p>
            <a:pPr algn="l">
              <a:lnSpc>
                <a:spcPct val="95000"/>
              </a:lnSpc>
              <a:spcAft>
                <a:spcPts val="400"/>
              </a:spcAft>
            </a:pPr>
            <a:r>
              <a:rPr sz="800" b="1">
                <a:solidFill>
                  <a:srgbClr val="000000"/>
                </a:solidFill>
                <a:latin typeface="Arial"/>
              </a:rPr>
              <a:t>2.  Sports day moved to 14 Aug. [31]</a:t>
            </a:r>
          </a:p>
          <a:p>
            <a:pPr algn="l">
              <a:lnSpc>
                <a:spcPct val="95000"/>
              </a:lnSpc>
              <a:spcAft>
                <a:spcPts val="400"/>
              </a:spcAft>
            </a:pPr>
            <a:r>
              <a:rPr sz="800" b="1">
                <a:solidFill>
                  <a:srgbClr val="000000"/>
                </a:solidFill>
                <a:latin typeface="Arial"/>
              </a:rPr>
              <a:t>3.  Bring Aadhaar copy Monday. [44]</a:t>
            </a:r>
          </a:p>
          <a:p>
            <a:pPr algn="l">
              <a:lnSpc>
                <a:spcPct val="95000"/>
              </a:lnSpc>
              <a:spcAft>
                <a:spcPts val="600"/>
              </a:spcAft>
            </a:pPr>
            <a:r>
              <a:rPr sz="800" b="1">
                <a:solidFill>
                  <a:srgbClr val="E65853"/>
                </a:solidFill>
                <a:latin typeface="Arial"/>
              </a:rPr>
              <a:t>⚠  Fake "scholarship" link — ignore. [58]</a:t>
            </a:r>
          </a:p>
          <a:p>
            <a:pPr algn="ctr">
              <a:lnSpc>
                <a:spcPct val="95000"/>
              </a:lnSpc>
              <a:spcAft>
                <a:spcPts val="0"/>
              </a:spcAft>
            </a:pPr>
            <a:r>
              <a:rPr sz="800" b="0">
                <a:solidFill>
                  <a:srgbClr val="1F497D"/>
                </a:solidFill>
                <a:latin typeface="Arial"/>
              </a:rPr>
              <a:t>Also delivered as a 40-second voice
note in the user's own language.</a:t>
            </a:r>
          </a:p>
        </p:txBody>
      </p:sp>
      <p:sp>
        <p:nvSpPr>
          <p:cNvPr id="13" name="Rounded Rectangle 12"/>
          <p:cNvSpPr/>
          <p:nvPr/>
        </p:nvSpPr>
        <p:spPr>
          <a:xfrm>
            <a:off x="6903720" y="4133087"/>
            <a:ext cx="5074920" cy="713232"/>
          </a:xfrm>
          <a:prstGeom prst="roundRect">
            <a:avLst>
              <a:gd name="adj" fmla="val 1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300"/>
              </a:spcAft>
            </a:pPr>
            <a:r>
              <a:rPr sz="950" b="1">
                <a:solidFill>
                  <a:srgbClr val="000000"/>
                </a:solidFill>
                <a:latin typeface="Arial"/>
              </a:rPr>
              <a:t>Runs silently as a linked device — on the user's own phone or a ₹0 cloud box.</a:t>
            </a:r>
          </a:p>
          <a:p>
            <a:pPr algn="ctr">
              <a:lnSpc>
                <a:spcPct val="95000"/>
              </a:lnSpc>
              <a:spcAft>
                <a:spcPts val="0"/>
              </a:spcAft>
            </a:pPr>
            <a:r>
              <a:rPr sz="869" b="0">
                <a:solidFill>
                  <a:srgbClr val="000000"/>
                </a:solidFill>
                <a:latin typeface="Arial"/>
              </a:rPr>
              <a:t>No bot in the group  ·  no admin permission  ·  no new app to learn  ·  data stays on the device</a:t>
            </a:r>
          </a:p>
        </p:txBody>
      </p:sp>
      <p:sp>
        <p:nvSpPr>
          <p:cNvPr id="14" name="Rounded Rectangle 13"/>
          <p:cNvSpPr/>
          <p:nvPr/>
        </p:nvSpPr>
        <p:spPr>
          <a:xfrm>
            <a:off x="6903720" y="4983480"/>
            <a:ext cx="5074920" cy="1280160"/>
          </a:xfrm>
          <a:prstGeom prst="roundRect">
            <a:avLst>
              <a:gd name="adj" fmla="val 1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400"/>
              </a:spcAft>
            </a:pPr>
            <a:r>
              <a:rPr sz="1050" b="1">
                <a:solidFill>
                  <a:srgbClr val="1F497D"/>
                </a:solidFill>
                <a:latin typeface="Arial"/>
              </a:rPr>
              <a:t>WHY THIS IS SOCIAL INNOVATION</a:t>
            </a:r>
          </a:p>
          <a:p>
            <a:pPr algn="ctr">
              <a:lnSpc>
                <a:spcPct val="100000"/>
              </a:lnSpc>
              <a:spcAft>
                <a:spcPts val="0"/>
              </a:spcAft>
            </a:pPr>
            <a:r>
              <a:rPr sz="900" b="0">
                <a:solidFill>
                  <a:srgbClr val="000000"/>
                </a:solidFill>
                <a:latin typeface="Arial"/>
              </a:rPr>
              <a:t>WhatsApp is India's real notice-board — for schemes, school, crops and health. Today its value goes to whoever has the time, literacy and eyesight to scroll. SAAR removes that filter, without asking anyone to change the app they already trust.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82880" y="91440"/>
            <a:ext cx="868680" cy="868680"/>
          </a:xfrm>
          <a:prstGeom prst="ellipse">
            <a:avLst/>
          </a:prstGeom>
          <a:solidFill>
            <a:srgbClr val="333652"/>
          </a:solidFill>
          <a:ln w="25400">
            <a:solidFill>
              <a:srgbClr val="57C99A"/>
            </a:solid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0000"/>
              </a:lnSpc>
              <a:spcAft>
                <a:spcPts val="0"/>
              </a:spcAft>
            </a:pPr>
            <a:r>
              <a:rPr sz="1300" b="1">
                <a:solidFill>
                  <a:srgbClr val="FFFFFF"/>
                </a:solidFill>
                <a:latin typeface="Arial"/>
              </a:rPr>
              <a:t>SAAR</a:t>
            </a:r>
          </a:p>
          <a:p>
            <a:pPr algn="ctr">
              <a:lnSpc>
                <a:spcPct val="90000"/>
              </a:lnSpc>
              <a:spcAft>
                <a:spcPts val="0"/>
              </a:spcAft>
            </a:pPr>
            <a:r>
              <a:rPr sz="800" b="1">
                <a:solidFill>
                  <a:srgbClr val="57C99A"/>
                </a:solidFill>
                <a:latin typeface="Arial"/>
              </a:rPr>
              <a:t>सार</a:t>
            </a:r>
          </a:p>
          <a:p>
            <a:pPr algn="ctr">
              <a:lnSpc>
                <a:spcPct val="90000"/>
              </a:lnSpc>
              <a:spcAft>
                <a:spcPts val="0"/>
              </a:spcAft>
            </a:pPr>
            <a:r>
              <a:rPr sz="450" b="1">
                <a:solidFill>
                  <a:srgbClr val="FFFFFF"/>
                </a:solidFill>
                <a:latin typeface="Arial"/>
              </a:rPr>
              <a:t>GROUP DIGEST</a:t>
            </a:r>
          </a:p>
        </p:txBody>
      </p:sp>
      <p:sp>
        <p:nvSpPr>
          <p:cNvPr id="3" name="TextBox 2"/>
          <p:cNvSpPr txBox="1"/>
          <p:nvPr/>
        </p:nvSpPr>
        <p:spPr>
          <a:xfrm>
            <a:off x="1188720" y="73152"/>
            <a:ext cx="9784080" cy="841248"/>
          </a:xfrm>
          <a:prstGeom prst="rect">
            <a:avLst/>
          </a:prstGeom>
          <a:noFill/>
        </p:spPr>
        <p:txBody>
          <a:bodyPr wrap="square" lIns="18288" rIns="18288" tIns="0" bIns="0" anchor="ctr">
            <a:spAutoFit/>
          </a:bodyPr>
          <a:lstStyle/>
          <a:p>
            <a:pPr algn="ctr">
              <a:lnSpc>
                <a:spcPct val="95000"/>
              </a:lnSpc>
              <a:spcAft>
                <a:spcPts val="0"/>
              </a:spcAft>
            </a:pPr>
            <a:r>
              <a:rPr sz="3100" b="1">
                <a:solidFill>
                  <a:srgbClr val="000000"/>
                </a:solidFill>
                <a:latin typeface="Times New Roman"/>
              </a:rPr>
              <a:t>SAAR</a:t>
            </a:r>
          </a:p>
          <a:p>
            <a:pPr algn="ctr">
              <a:lnSpc>
                <a:spcPct val="95000"/>
              </a:lnSpc>
              <a:spcAft>
                <a:spcPts val="0"/>
              </a:spcAft>
            </a:pPr>
            <a:r>
              <a:rPr sz="2000" b="1">
                <a:solidFill>
                  <a:srgbClr val="000000"/>
                </a:solidFill>
                <a:latin typeface="Times New Roman"/>
              </a:rPr>
              <a:t>PROPOSED SOLUTION</a:t>
            </a:r>
          </a:p>
        </p:txBody>
      </p:sp>
      <p:sp>
        <p:nvSpPr>
          <p:cNvPr id="4" name="Rectangle 3"/>
          <p:cNvSpPr/>
          <p:nvPr/>
        </p:nvSpPr>
        <p:spPr>
          <a:xfrm>
            <a:off x="0" y="6345936"/>
            <a:ext cx="12191695" cy="51206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1100" b="0">
                <a:solidFill>
                  <a:srgbClr val="FFFFFF"/>
                </a:solidFill>
                <a:latin typeface="Arial"/>
              </a:rPr>
              <a:t>@Idea Submission   |   Theme: Social Innovation &amp; Inclusive Development</a:t>
            </a:r>
          </a:p>
        </p:txBody>
      </p:sp>
      <p:sp>
        <p:nvSpPr>
          <p:cNvPr id="5" name="TextBox 4"/>
          <p:cNvSpPr txBox="1"/>
          <p:nvPr/>
        </p:nvSpPr>
        <p:spPr>
          <a:xfrm>
            <a:off x="11430000" y="6464808"/>
            <a:ext cx="566928" cy="274320"/>
          </a:xfrm>
          <a:prstGeom prst="rect">
            <a:avLst/>
          </a:prstGeom>
          <a:noFill/>
        </p:spPr>
        <p:txBody>
          <a:bodyPr wrap="square" lIns="18288" rIns="18288" tIns="0" bIns="0" anchor="ctr">
            <a:spAutoFit/>
          </a:bodyPr>
          <a:lstStyle/>
          <a:p>
            <a:pPr algn="r">
              <a:lnSpc>
                <a:spcPct val="95000"/>
              </a:lnSpc>
              <a:spcAft>
                <a:spcPts val="0"/>
              </a:spcAft>
            </a:pPr>
            <a:r>
              <a:rPr sz="1300" b="1">
                <a:solidFill>
                  <a:srgbClr val="FFFFFF"/>
                </a:solidFill>
                <a:latin typeface="Arial"/>
              </a:rPr>
              <a:t>2</a:t>
            </a:r>
          </a:p>
        </p:txBody>
      </p:sp>
      <p:sp>
        <p:nvSpPr>
          <p:cNvPr id="6" name="Rounded Rectangle 5"/>
          <p:cNvSpPr/>
          <p:nvPr/>
        </p:nvSpPr>
        <p:spPr>
          <a:xfrm>
            <a:off x="201168" y="960120"/>
            <a:ext cx="3611880" cy="1783080"/>
          </a:xfrm>
          <a:prstGeom prst="roundRect">
            <a:avLst>
              <a:gd name="adj" fmla="val 10000"/>
            </a:avLst>
          </a:prstGeom>
          <a:solidFill>
            <a:srgbClr val="E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300"/>
              </a:spcAft>
            </a:pPr>
            <a:r>
              <a:rPr sz="1350" b="1">
                <a:solidFill>
                  <a:srgbClr val="000000"/>
                </a:solidFill>
                <a:latin typeface="Arial"/>
              </a:rPr>
              <a:t>What is SAAR?</a:t>
            </a:r>
          </a:p>
          <a:p>
            <a:pPr algn="ctr">
              <a:lnSpc>
                <a:spcPct val="95000"/>
              </a:lnSpc>
              <a:spcAft>
                <a:spcPts val="600"/>
              </a:spcAft>
            </a:pPr>
            <a:r>
              <a:rPr sz="950" b="1">
                <a:solidFill>
                  <a:srgbClr val="1F497D"/>
                </a:solidFill>
                <a:latin typeface="Arial"/>
              </a:rPr>
              <a:t>Where India's real notice-board meets AI</a:t>
            </a:r>
          </a:p>
          <a:p>
            <a:pPr algn="ctr">
              <a:lnSpc>
                <a:spcPct val="95000"/>
              </a:lnSpc>
              <a:spcAft>
                <a:spcPts val="500"/>
              </a:spcAft>
            </a:pPr>
            <a:r>
              <a:rPr sz="919" b="0">
                <a:solidFill>
                  <a:srgbClr val="000000"/>
                </a:solidFill>
                <a:latin typeface="Arial"/>
              </a:rPr>
              <a:t>A silent AI assistant that reads the WhatsApp groups a person already belongs to, and hands back a short, cited, spoken digest of what actually matters to them.</a:t>
            </a:r>
          </a:p>
          <a:p>
            <a:pPr algn="ctr">
              <a:lnSpc>
                <a:spcPct val="95000"/>
              </a:lnSpc>
              <a:spcAft>
                <a:spcPts val="0"/>
              </a:spcAft>
            </a:pPr>
            <a:r>
              <a:rPr sz="900" b="1">
                <a:solidFill>
                  <a:srgbClr val="1F497D"/>
                </a:solidFill>
                <a:latin typeface="Arial"/>
              </a:rPr>
              <a:t>Built for the 500 mn Indians whose civic life runs on WhatsApp.</a:t>
            </a:r>
          </a:p>
        </p:txBody>
      </p:sp>
      <p:sp>
        <p:nvSpPr>
          <p:cNvPr id="7" name="Rounded Rectangle 6"/>
          <p:cNvSpPr/>
          <p:nvPr/>
        </p:nvSpPr>
        <p:spPr>
          <a:xfrm>
            <a:off x="201168" y="2834640"/>
            <a:ext cx="3611880" cy="3429000"/>
          </a:xfrm>
          <a:prstGeom prst="roundRect">
            <a:avLst>
              <a:gd name="adj" fmla="val 1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ctr">
              <a:lnSpc>
                <a:spcPct val="95000"/>
              </a:lnSpc>
              <a:spcAft>
                <a:spcPts val="500"/>
              </a:spcAft>
            </a:pPr>
            <a:r>
              <a:rPr sz="1250" b="1">
                <a:solidFill>
                  <a:srgbClr val="000000"/>
                </a:solidFill>
                <a:latin typeface="Arial"/>
              </a:rPr>
              <a:t>How It Addresses the Problem</a:t>
            </a:r>
          </a:p>
          <a:p>
            <a:pPr algn="ctr">
              <a:lnSpc>
                <a:spcPct val="95000"/>
              </a:lnSpc>
              <a:spcAft>
                <a:spcPts val="600"/>
              </a:spcAft>
            </a:pPr>
            <a:r>
              <a:rPr sz="900" b="0">
                <a:solidFill>
                  <a:srgbClr val="000000"/>
                </a:solidFill>
                <a:latin typeface="Arial"/>
              </a:rPr>
              <a:t>Panchayat notices, scheme deadlines, school fees, crop advisories and job leads all arrive in groups that push 300+ messages a day.</a:t>
            </a:r>
          </a:p>
          <a:p>
            <a:pPr algn="l">
              <a:lnSpc>
                <a:spcPct val="95000"/>
              </a:lnSpc>
              <a:spcAft>
                <a:spcPts val="100"/>
              </a:spcAft>
            </a:pPr>
            <a:r>
              <a:rPr sz="1000" b="1">
                <a:solidFill>
                  <a:srgbClr val="1F497D"/>
                </a:solidFill>
                <a:latin typeface="Arial"/>
              </a:rPr>
              <a:t>Catch-up digest</a:t>
            </a:r>
          </a:p>
          <a:p>
            <a:pPr algn="l">
              <a:lnSpc>
                <a:spcPct val="95000"/>
              </a:lnSpc>
              <a:spcAft>
                <a:spcPts val="500"/>
              </a:spcAft>
            </a:pPr>
            <a:r>
              <a:rPr sz="900" b="0">
                <a:solidFill>
                  <a:srgbClr val="000000"/>
                </a:solidFill>
                <a:latin typeface="Arial"/>
              </a:rPr>
              <a:t>Summarises only what arrived since you last caught up.</a:t>
            </a:r>
          </a:p>
          <a:p>
            <a:pPr algn="l">
              <a:lnSpc>
                <a:spcPct val="95000"/>
              </a:lnSpc>
              <a:spcAft>
                <a:spcPts val="100"/>
              </a:spcAft>
            </a:pPr>
            <a:r>
              <a:rPr sz="1000" b="1">
                <a:solidFill>
                  <a:srgbClr val="1F497D"/>
                </a:solidFill>
                <a:latin typeface="Arial"/>
              </a:rPr>
              <a:t>Spoken, not just written</a:t>
            </a:r>
          </a:p>
          <a:p>
            <a:pPr algn="l">
              <a:lnSpc>
                <a:spcPct val="95000"/>
              </a:lnSpc>
              <a:spcAft>
                <a:spcPts val="500"/>
              </a:spcAft>
            </a:pPr>
            <a:r>
              <a:rPr sz="900" b="0">
                <a:solidFill>
                  <a:srgbClr val="000000"/>
                </a:solidFill>
                <a:latin typeface="Arial"/>
              </a:rPr>
              <a:t>Voice-note digests in 22 languages — literacy stops being the gate.</a:t>
            </a:r>
          </a:p>
          <a:p>
            <a:pPr algn="l">
              <a:lnSpc>
                <a:spcPct val="95000"/>
              </a:lnSpc>
              <a:spcAft>
                <a:spcPts val="100"/>
              </a:spcAft>
            </a:pPr>
            <a:r>
              <a:rPr sz="1000" b="1">
                <a:solidFill>
                  <a:srgbClr val="1F497D"/>
                </a:solidFill>
                <a:latin typeface="Arial"/>
              </a:rPr>
              <a:t>Action, not just information</a:t>
            </a:r>
          </a:p>
          <a:p>
            <a:pPr algn="l">
              <a:lnSpc>
                <a:spcPct val="95000"/>
              </a:lnSpc>
              <a:spcAft>
                <a:spcPts val="500"/>
              </a:spcAft>
            </a:pPr>
            <a:r>
              <a:rPr sz="900" b="0">
                <a:solidFill>
                  <a:srgbClr val="000000"/>
                </a:solidFill>
                <a:latin typeface="Arial"/>
              </a:rPr>
              <a:t>Dates, fees and documents become reminders you cannot miss.</a:t>
            </a:r>
          </a:p>
          <a:p>
            <a:pPr algn="l">
              <a:lnSpc>
                <a:spcPct val="95000"/>
              </a:lnSpc>
              <a:spcAft>
                <a:spcPts val="100"/>
              </a:spcAft>
            </a:pPr>
            <a:r>
              <a:rPr sz="1000" b="1">
                <a:solidFill>
                  <a:srgbClr val="1F497D"/>
                </a:solidFill>
                <a:latin typeface="Arial"/>
              </a:rPr>
              <a:t>Only what concerns you</a:t>
            </a:r>
          </a:p>
          <a:p>
            <a:pPr algn="l">
              <a:lnSpc>
                <a:spcPct val="95000"/>
              </a:lnSpc>
              <a:spcAft>
                <a:spcPts val="500"/>
              </a:spcAft>
            </a:pPr>
            <a:r>
              <a:rPr sz="900" b="0">
                <a:solidFill>
                  <a:srgbClr val="000000"/>
                </a:solidFill>
                <a:latin typeface="Arial"/>
              </a:rPr>
              <a:t>A priority filter pings you when your name, child, crop or scheme comes up.</a:t>
            </a:r>
          </a:p>
          <a:p>
            <a:pPr algn="l">
              <a:lnSpc>
                <a:spcPct val="95000"/>
              </a:lnSpc>
              <a:spcAft>
                <a:spcPts val="100"/>
              </a:spcAft>
            </a:pPr>
            <a:r>
              <a:rPr sz="1000" b="1">
                <a:solidFill>
                  <a:srgbClr val="1F497D"/>
                </a:solidFill>
                <a:latin typeface="Arial"/>
              </a:rPr>
              <a:t>Trust by citation</a:t>
            </a:r>
          </a:p>
          <a:p>
            <a:pPr algn="l">
              <a:lnSpc>
                <a:spcPct val="95000"/>
              </a:lnSpc>
              <a:spcAft>
                <a:spcPts val="0"/>
              </a:spcAft>
            </a:pPr>
            <a:r>
              <a:rPr sz="900" b="0">
                <a:solidFill>
                  <a:srgbClr val="000000"/>
                </a:solidFill>
                <a:latin typeface="Arial"/>
              </a:rPr>
              <a:t>Every line links to the real message, so nothing is taken on faith.</a:t>
            </a:r>
          </a:p>
        </p:txBody>
      </p:sp>
      <p:sp>
        <p:nvSpPr>
          <p:cNvPr id="8" name="TextBox 7"/>
          <p:cNvSpPr txBox="1"/>
          <p:nvPr/>
        </p:nvSpPr>
        <p:spPr>
          <a:xfrm>
            <a:off x="3950208" y="960120"/>
            <a:ext cx="4069080" cy="274320"/>
          </a:xfrm>
          <a:prstGeom prst="rect">
            <a:avLst/>
          </a:prstGeom>
          <a:noFill/>
        </p:spPr>
        <p:txBody>
          <a:bodyPr wrap="square" lIns="18288" rIns="18288" tIns="0" bIns="0" anchor="ctr">
            <a:spAutoFit/>
          </a:bodyPr>
          <a:lstStyle/>
          <a:p>
            <a:pPr algn="ctr">
              <a:lnSpc>
                <a:spcPct val="95000"/>
              </a:lnSpc>
              <a:spcAft>
                <a:spcPts val="0"/>
              </a:spcAft>
            </a:pPr>
            <a:r>
              <a:rPr sz="1250" b="1">
                <a:solidFill>
                  <a:srgbClr val="000000"/>
                </a:solidFill>
                <a:latin typeface="Arial"/>
              </a:rPr>
              <a:t>KEY FEATURES</a:t>
            </a:r>
          </a:p>
        </p:txBody>
      </p:sp>
      <p:sp>
        <p:nvSpPr>
          <p:cNvPr id="9" name="Rounded Rectangle 8"/>
          <p:cNvSpPr/>
          <p:nvPr/>
        </p:nvSpPr>
        <p:spPr>
          <a:xfrm>
            <a:off x="3950208" y="1298448"/>
            <a:ext cx="1979676" cy="457200"/>
          </a:xfrm>
          <a:prstGeom prst="roundRect">
            <a:avLst>
              <a:gd name="adj" fmla="val 2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5000"/>
              </a:lnSpc>
              <a:spcAft>
                <a:spcPts val="0"/>
              </a:spcAft>
            </a:pPr>
            <a:r>
              <a:rPr sz="900" b="1">
                <a:solidFill>
                  <a:srgbClr val="000000"/>
                </a:solidFill>
                <a:latin typeface="Arial"/>
              </a:rPr>
              <a:t>Catch-up digest</a:t>
            </a:r>
          </a:p>
          <a:p>
            <a:pPr algn="ctr">
              <a:lnSpc>
                <a:spcPct val="85000"/>
              </a:lnSpc>
              <a:spcAft>
                <a:spcPts val="0"/>
              </a:spcAft>
            </a:pPr>
            <a:r>
              <a:rPr sz="720" b="0">
                <a:solidFill>
                  <a:srgbClr val="000000"/>
                </a:solidFill>
                <a:latin typeface="Arial"/>
              </a:rPr>
              <a:t>Only what you missed</a:t>
            </a:r>
          </a:p>
        </p:txBody>
      </p:sp>
      <p:sp>
        <p:nvSpPr>
          <p:cNvPr id="10" name="Oval 9"/>
          <p:cNvSpPr/>
          <p:nvPr/>
        </p:nvSpPr>
        <p:spPr>
          <a:xfrm>
            <a:off x="3895344" y="1389888"/>
            <a:ext cx="292608" cy="292608"/>
          </a:xfrm>
          <a:prstGeom prst="ellipse">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5000"/>
              </a:lnSpc>
              <a:spcAft>
                <a:spcPts val="0"/>
              </a:spcAft>
            </a:pPr>
            <a:r>
              <a:rPr sz="800" b="1">
                <a:solidFill>
                  <a:srgbClr val="FFFFFF"/>
                </a:solidFill>
                <a:latin typeface="Arial"/>
              </a:rPr>
              <a:t>1</a:t>
            </a:r>
          </a:p>
        </p:txBody>
      </p:sp>
      <p:sp>
        <p:nvSpPr>
          <p:cNvPr id="11" name="Rounded Rectangle 10"/>
          <p:cNvSpPr/>
          <p:nvPr/>
        </p:nvSpPr>
        <p:spPr>
          <a:xfrm>
            <a:off x="6039612" y="1298448"/>
            <a:ext cx="1979676" cy="457200"/>
          </a:xfrm>
          <a:prstGeom prst="roundRect">
            <a:avLst>
              <a:gd name="adj" fmla="val 22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5000"/>
              </a:lnSpc>
              <a:spcAft>
                <a:spcPts val="0"/>
              </a:spcAft>
            </a:pPr>
            <a:r>
              <a:rPr sz="900" b="1">
                <a:solidFill>
                  <a:srgbClr val="000000"/>
                </a:solidFill>
                <a:latin typeface="Arial"/>
              </a:rPr>
              <a:t>Voice-note digest</a:t>
            </a:r>
          </a:p>
          <a:p>
            <a:pPr algn="ctr">
              <a:lnSpc>
                <a:spcPct val="85000"/>
              </a:lnSpc>
              <a:spcAft>
                <a:spcPts val="0"/>
              </a:spcAft>
            </a:pPr>
            <a:r>
              <a:rPr sz="720" b="0">
                <a:solidFill>
                  <a:srgbClr val="000000"/>
                </a:solidFill>
                <a:latin typeface="Arial"/>
              </a:rPr>
              <a:t>Text-to-speech, your dialect</a:t>
            </a:r>
          </a:p>
        </p:txBody>
      </p:sp>
      <p:sp>
        <p:nvSpPr>
          <p:cNvPr id="12" name="Oval 11"/>
          <p:cNvSpPr/>
          <p:nvPr/>
        </p:nvSpPr>
        <p:spPr>
          <a:xfrm>
            <a:off x="5984748" y="1389888"/>
            <a:ext cx="292608" cy="292608"/>
          </a:xfrm>
          <a:prstGeom prst="ellipse">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5000"/>
              </a:lnSpc>
              <a:spcAft>
                <a:spcPts val="0"/>
              </a:spcAft>
            </a:pPr>
            <a:r>
              <a:rPr sz="800" b="1">
                <a:solidFill>
                  <a:srgbClr val="FFFFFF"/>
                </a:solidFill>
                <a:latin typeface="Arial"/>
              </a:rPr>
              <a:t>2</a:t>
            </a:r>
          </a:p>
        </p:txBody>
      </p:sp>
      <p:sp>
        <p:nvSpPr>
          <p:cNvPr id="13" name="Rounded Rectangle 12"/>
          <p:cNvSpPr/>
          <p:nvPr/>
        </p:nvSpPr>
        <p:spPr>
          <a:xfrm>
            <a:off x="3950208" y="1856231"/>
            <a:ext cx="1979676" cy="457200"/>
          </a:xfrm>
          <a:prstGeom prst="roundRect">
            <a:avLst>
              <a:gd name="adj" fmla="val 2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5000"/>
              </a:lnSpc>
              <a:spcAft>
                <a:spcPts val="0"/>
              </a:spcAft>
            </a:pPr>
            <a:r>
              <a:rPr sz="900" b="1">
                <a:solidFill>
                  <a:srgbClr val="000000"/>
                </a:solidFill>
                <a:latin typeface="Arial"/>
              </a:rPr>
              <a:t>22 Indian languages</a:t>
            </a:r>
          </a:p>
          <a:p>
            <a:pPr algn="ctr">
              <a:lnSpc>
                <a:spcPct val="85000"/>
              </a:lnSpc>
              <a:spcAft>
                <a:spcPts val="0"/>
              </a:spcAft>
            </a:pPr>
            <a:r>
              <a:rPr sz="720" b="0">
                <a:solidFill>
                  <a:srgbClr val="000000"/>
                </a:solidFill>
                <a:latin typeface="Arial"/>
              </a:rPr>
              <a:t>Reads Hinglish and code-mix</a:t>
            </a:r>
          </a:p>
        </p:txBody>
      </p:sp>
      <p:sp>
        <p:nvSpPr>
          <p:cNvPr id="14" name="Oval 13"/>
          <p:cNvSpPr/>
          <p:nvPr/>
        </p:nvSpPr>
        <p:spPr>
          <a:xfrm>
            <a:off x="3895344" y="1947672"/>
            <a:ext cx="292608" cy="292608"/>
          </a:xfrm>
          <a:prstGeom prst="ellipse">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5000"/>
              </a:lnSpc>
              <a:spcAft>
                <a:spcPts val="0"/>
              </a:spcAft>
            </a:pPr>
            <a:r>
              <a:rPr sz="800" b="1">
                <a:solidFill>
                  <a:srgbClr val="FFFFFF"/>
                </a:solidFill>
                <a:latin typeface="Arial"/>
              </a:rPr>
              <a:t>3</a:t>
            </a:r>
          </a:p>
        </p:txBody>
      </p:sp>
      <p:sp>
        <p:nvSpPr>
          <p:cNvPr id="15" name="Rounded Rectangle 14"/>
          <p:cNvSpPr/>
          <p:nvPr/>
        </p:nvSpPr>
        <p:spPr>
          <a:xfrm>
            <a:off x="6039612" y="1856231"/>
            <a:ext cx="1979676" cy="457200"/>
          </a:xfrm>
          <a:prstGeom prst="roundRect">
            <a:avLst>
              <a:gd name="adj" fmla="val 22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5000"/>
              </a:lnSpc>
              <a:spcAft>
                <a:spcPts val="0"/>
              </a:spcAft>
            </a:pPr>
            <a:r>
              <a:rPr sz="900" b="1">
                <a:solidFill>
                  <a:srgbClr val="000000"/>
                </a:solidFill>
                <a:latin typeface="Arial"/>
              </a:rPr>
              <a:t>Voice notes read too</a:t>
            </a:r>
          </a:p>
          <a:p>
            <a:pPr algn="ctr">
              <a:lnSpc>
                <a:spcPct val="85000"/>
              </a:lnSpc>
              <a:spcAft>
                <a:spcPts val="0"/>
              </a:spcAft>
            </a:pPr>
            <a:r>
              <a:rPr sz="720" b="0">
                <a:solidFill>
                  <a:srgbClr val="000000"/>
                </a:solidFill>
                <a:latin typeface="Arial"/>
              </a:rPr>
              <a:t>Speech-to-text on group audio</a:t>
            </a:r>
          </a:p>
        </p:txBody>
      </p:sp>
      <p:sp>
        <p:nvSpPr>
          <p:cNvPr id="16" name="Oval 15"/>
          <p:cNvSpPr/>
          <p:nvPr/>
        </p:nvSpPr>
        <p:spPr>
          <a:xfrm>
            <a:off x="5984748" y="1947672"/>
            <a:ext cx="292608" cy="292608"/>
          </a:xfrm>
          <a:prstGeom prst="ellipse">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5000"/>
              </a:lnSpc>
              <a:spcAft>
                <a:spcPts val="0"/>
              </a:spcAft>
            </a:pPr>
            <a:r>
              <a:rPr sz="800" b="1">
                <a:solidFill>
                  <a:srgbClr val="FFFFFF"/>
                </a:solidFill>
                <a:latin typeface="Arial"/>
              </a:rPr>
              <a:t>4</a:t>
            </a:r>
          </a:p>
        </p:txBody>
      </p:sp>
      <p:sp>
        <p:nvSpPr>
          <p:cNvPr id="17" name="Rounded Rectangle 16"/>
          <p:cNvSpPr/>
          <p:nvPr/>
        </p:nvSpPr>
        <p:spPr>
          <a:xfrm>
            <a:off x="3950208" y="2414015"/>
            <a:ext cx="1979676" cy="457200"/>
          </a:xfrm>
          <a:prstGeom prst="roundRect">
            <a:avLst>
              <a:gd name="adj" fmla="val 2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5000"/>
              </a:lnSpc>
              <a:spcAft>
                <a:spcPts val="0"/>
              </a:spcAft>
            </a:pPr>
            <a:r>
              <a:rPr sz="900" b="1">
                <a:solidFill>
                  <a:srgbClr val="000000"/>
                </a:solidFill>
                <a:latin typeface="Arial"/>
              </a:rPr>
              <a:t>Action extractor</a:t>
            </a:r>
          </a:p>
          <a:p>
            <a:pPr algn="ctr">
              <a:lnSpc>
                <a:spcPct val="85000"/>
              </a:lnSpc>
              <a:spcAft>
                <a:spcPts val="0"/>
              </a:spcAft>
            </a:pPr>
            <a:r>
              <a:rPr sz="720" b="0">
                <a:solidFill>
                  <a:srgbClr val="000000"/>
                </a:solidFill>
                <a:latin typeface="Arial"/>
              </a:rPr>
              <a:t>Dates, fees, documents</a:t>
            </a:r>
          </a:p>
        </p:txBody>
      </p:sp>
      <p:sp>
        <p:nvSpPr>
          <p:cNvPr id="18" name="Oval 17"/>
          <p:cNvSpPr/>
          <p:nvPr/>
        </p:nvSpPr>
        <p:spPr>
          <a:xfrm>
            <a:off x="3895344" y="2505456"/>
            <a:ext cx="292608" cy="292608"/>
          </a:xfrm>
          <a:prstGeom prst="ellipse">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5000"/>
              </a:lnSpc>
              <a:spcAft>
                <a:spcPts val="0"/>
              </a:spcAft>
            </a:pPr>
            <a:r>
              <a:rPr sz="800" b="1">
                <a:solidFill>
                  <a:srgbClr val="FFFFFF"/>
                </a:solidFill>
                <a:latin typeface="Arial"/>
              </a:rPr>
              <a:t>5</a:t>
            </a:r>
          </a:p>
        </p:txBody>
      </p:sp>
      <p:sp>
        <p:nvSpPr>
          <p:cNvPr id="19" name="Rounded Rectangle 18"/>
          <p:cNvSpPr/>
          <p:nvPr/>
        </p:nvSpPr>
        <p:spPr>
          <a:xfrm>
            <a:off x="6039612" y="2414015"/>
            <a:ext cx="1979676" cy="457200"/>
          </a:xfrm>
          <a:prstGeom prst="roundRect">
            <a:avLst>
              <a:gd name="adj" fmla="val 22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5000"/>
              </a:lnSpc>
              <a:spcAft>
                <a:spcPts val="0"/>
              </a:spcAft>
            </a:pPr>
            <a:r>
              <a:rPr sz="900" b="1">
                <a:solidFill>
                  <a:srgbClr val="000000"/>
                </a:solidFill>
                <a:latin typeface="Arial"/>
              </a:rPr>
              <a:t>Scam &amp; rumour shield</a:t>
            </a:r>
          </a:p>
          <a:p>
            <a:pPr algn="ctr">
              <a:lnSpc>
                <a:spcPct val="85000"/>
              </a:lnSpc>
              <a:spcAft>
                <a:spcPts val="0"/>
              </a:spcAft>
            </a:pPr>
            <a:r>
              <a:rPr sz="720" b="0">
                <a:solidFill>
                  <a:srgbClr val="000000"/>
                </a:solidFill>
                <a:latin typeface="Arial"/>
              </a:rPr>
              <a:t>Flags fraud links and forwards</a:t>
            </a:r>
          </a:p>
        </p:txBody>
      </p:sp>
      <p:sp>
        <p:nvSpPr>
          <p:cNvPr id="20" name="Oval 19"/>
          <p:cNvSpPr/>
          <p:nvPr/>
        </p:nvSpPr>
        <p:spPr>
          <a:xfrm>
            <a:off x="5984748" y="2505456"/>
            <a:ext cx="292608" cy="292608"/>
          </a:xfrm>
          <a:prstGeom prst="ellipse">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5000"/>
              </a:lnSpc>
              <a:spcAft>
                <a:spcPts val="0"/>
              </a:spcAft>
            </a:pPr>
            <a:r>
              <a:rPr sz="800" b="1">
                <a:solidFill>
                  <a:srgbClr val="FFFFFF"/>
                </a:solidFill>
                <a:latin typeface="Arial"/>
              </a:rPr>
              <a:t>6</a:t>
            </a:r>
          </a:p>
        </p:txBody>
      </p:sp>
      <p:sp>
        <p:nvSpPr>
          <p:cNvPr id="21" name="Rounded Rectangle 20"/>
          <p:cNvSpPr/>
          <p:nvPr/>
        </p:nvSpPr>
        <p:spPr>
          <a:xfrm>
            <a:off x="3950208" y="2971800"/>
            <a:ext cx="1979676" cy="457200"/>
          </a:xfrm>
          <a:prstGeom prst="roundRect">
            <a:avLst>
              <a:gd name="adj" fmla="val 2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5000"/>
              </a:lnSpc>
              <a:spcAft>
                <a:spcPts val="0"/>
              </a:spcAft>
            </a:pPr>
            <a:r>
              <a:rPr sz="900" b="1">
                <a:solidFill>
                  <a:srgbClr val="000000"/>
                </a:solidFill>
                <a:latin typeface="Arial"/>
              </a:rPr>
              <a:t>Priority alerts</a:t>
            </a:r>
          </a:p>
          <a:p>
            <a:pPr algn="ctr">
              <a:lnSpc>
                <a:spcPct val="85000"/>
              </a:lnSpc>
              <a:spcAft>
                <a:spcPts val="0"/>
              </a:spcAft>
            </a:pPr>
            <a:r>
              <a:rPr sz="720" b="0">
                <a:solidFill>
                  <a:srgbClr val="000000"/>
                </a:solidFill>
                <a:latin typeface="Arial"/>
              </a:rPr>
              <a:t>Ping only if it concerns you</a:t>
            </a:r>
          </a:p>
        </p:txBody>
      </p:sp>
      <p:sp>
        <p:nvSpPr>
          <p:cNvPr id="22" name="Oval 21"/>
          <p:cNvSpPr/>
          <p:nvPr/>
        </p:nvSpPr>
        <p:spPr>
          <a:xfrm>
            <a:off x="3895344" y="3063240"/>
            <a:ext cx="292608" cy="292608"/>
          </a:xfrm>
          <a:prstGeom prst="ellipse">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5000"/>
              </a:lnSpc>
              <a:spcAft>
                <a:spcPts val="0"/>
              </a:spcAft>
            </a:pPr>
            <a:r>
              <a:rPr sz="800" b="1">
                <a:solidFill>
                  <a:srgbClr val="FFFFFF"/>
                </a:solidFill>
                <a:latin typeface="Arial"/>
              </a:rPr>
              <a:t>7</a:t>
            </a:r>
          </a:p>
        </p:txBody>
      </p:sp>
      <p:sp>
        <p:nvSpPr>
          <p:cNvPr id="23" name="Rounded Rectangle 22"/>
          <p:cNvSpPr/>
          <p:nvPr/>
        </p:nvSpPr>
        <p:spPr>
          <a:xfrm>
            <a:off x="6039612" y="2971800"/>
            <a:ext cx="1979676" cy="457200"/>
          </a:xfrm>
          <a:prstGeom prst="roundRect">
            <a:avLst>
              <a:gd name="adj" fmla="val 22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5000"/>
              </a:lnSpc>
              <a:spcAft>
                <a:spcPts val="0"/>
              </a:spcAft>
            </a:pPr>
            <a:r>
              <a:rPr sz="900" b="1">
                <a:solidFill>
                  <a:srgbClr val="000000"/>
                </a:solidFill>
                <a:latin typeface="Arial"/>
              </a:rPr>
              <a:t>★ Save-to-vault</a:t>
            </a:r>
          </a:p>
          <a:p>
            <a:pPr algn="ctr">
              <a:lnSpc>
                <a:spcPct val="85000"/>
              </a:lnSpc>
              <a:spcAft>
                <a:spcPts val="0"/>
              </a:spcAft>
            </a:pPr>
            <a:r>
              <a:rPr sz="720" b="0">
                <a:solidFill>
                  <a:srgbClr val="000000"/>
                </a:solidFill>
                <a:latin typeface="Arial"/>
              </a:rPr>
              <a:t>Circulars kept after chat clears</a:t>
            </a:r>
          </a:p>
        </p:txBody>
      </p:sp>
      <p:sp>
        <p:nvSpPr>
          <p:cNvPr id="24" name="Oval 23"/>
          <p:cNvSpPr/>
          <p:nvPr/>
        </p:nvSpPr>
        <p:spPr>
          <a:xfrm>
            <a:off x="5984748" y="3063240"/>
            <a:ext cx="292608" cy="292608"/>
          </a:xfrm>
          <a:prstGeom prst="ellipse">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5000"/>
              </a:lnSpc>
              <a:spcAft>
                <a:spcPts val="0"/>
              </a:spcAft>
            </a:pPr>
            <a:r>
              <a:rPr sz="800" b="1">
                <a:solidFill>
                  <a:srgbClr val="FFFFFF"/>
                </a:solidFill>
                <a:latin typeface="Arial"/>
              </a:rPr>
              <a:t>8</a:t>
            </a:r>
          </a:p>
        </p:txBody>
      </p:sp>
      <p:sp>
        <p:nvSpPr>
          <p:cNvPr id="25" name="Rounded Rectangle 24"/>
          <p:cNvSpPr/>
          <p:nvPr/>
        </p:nvSpPr>
        <p:spPr>
          <a:xfrm>
            <a:off x="3950208" y="3529584"/>
            <a:ext cx="1979676" cy="457200"/>
          </a:xfrm>
          <a:prstGeom prst="roundRect">
            <a:avLst>
              <a:gd name="adj" fmla="val 2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5000"/>
              </a:lnSpc>
              <a:spcAft>
                <a:spcPts val="0"/>
              </a:spcAft>
            </a:pPr>
            <a:r>
              <a:rPr sz="900" b="1">
                <a:solidFill>
                  <a:srgbClr val="000000"/>
                </a:solidFill>
                <a:latin typeface="Arial"/>
              </a:rPr>
              <a:t>Ask my groups</a:t>
            </a:r>
          </a:p>
          <a:p>
            <a:pPr algn="ctr">
              <a:lnSpc>
                <a:spcPct val="85000"/>
              </a:lnSpc>
              <a:spcAft>
                <a:spcPts val="0"/>
              </a:spcAft>
            </a:pPr>
            <a:r>
              <a:rPr sz="720" b="0">
                <a:solidFill>
                  <a:srgbClr val="000000"/>
                </a:solidFill>
                <a:latin typeface="Arial"/>
              </a:rPr>
              <a:t>"When is the fee due?"</a:t>
            </a:r>
          </a:p>
        </p:txBody>
      </p:sp>
      <p:sp>
        <p:nvSpPr>
          <p:cNvPr id="26" name="Oval 25"/>
          <p:cNvSpPr/>
          <p:nvPr/>
        </p:nvSpPr>
        <p:spPr>
          <a:xfrm>
            <a:off x="3895344" y="3621024"/>
            <a:ext cx="292608" cy="292608"/>
          </a:xfrm>
          <a:prstGeom prst="ellipse">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5000"/>
              </a:lnSpc>
              <a:spcAft>
                <a:spcPts val="0"/>
              </a:spcAft>
            </a:pPr>
            <a:r>
              <a:rPr sz="800" b="1">
                <a:solidFill>
                  <a:srgbClr val="FFFFFF"/>
                </a:solidFill>
                <a:latin typeface="Arial"/>
              </a:rPr>
              <a:t>9</a:t>
            </a:r>
          </a:p>
        </p:txBody>
      </p:sp>
      <p:sp>
        <p:nvSpPr>
          <p:cNvPr id="27" name="Rounded Rectangle 26"/>
          <p:cNvSpPr/>
          <p:nvPr/>
        </p:nvSpPr>
        <p:spPr>
          <a:xfrm>
            <a:off x="6039612" y="3529584"/>
            <a:ext cx="1979676" cy="457200"/>
          </a:xfrm>
          <a:prstGeom prst="roundRect">
            <a:avLst>
              <a:gd name="adj" fmla="val 22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5000"/>
              </a:lnSpc>
              <a:spcAft>
                <a:spcPts val="0"/>
              </a:spcAft>
            </a:pPr>
            <a:r>
              <a:rPr sz="900" b="1">
                <a:solidFill>
                  <a:srgbClr val="000000"/>
                </a:solidFill>
                <a:latin typeface="Arial"/>
              </a:rPr>
              <a:t>Cited digests</a:t>
            </a:r>
          </a:p>
          <a:p>
            <a:pPr algn="ctr">
              <a:lnSpc>
                <a:spcPct val="85000"/>
              </a:lnSpc>
              <a:spcAft>
                <a:spcPts val="0"/>
              </a:spcAft>
            </a:pPr>
            <a:r>
              <a:rPr sz="720" b="0">
                <a:solidFill>
                  <a:srgbClr val="000000"/>
                </a:solidFill>
                <a:latin typeface="Arial"/>
              </a:rPr>
              <a:t>Tap a line, see the message</a:t>
            </a:r>
          </a:p>
        </p:txBody>
      </p:sp>
      <p:sp>
        <p:nvSpPr>
          <p:cNvPr id="28" name="Oval 27"/>
          <p:cNvSpPr/>
          <p:nvPr/>
        </p:nvSpPr>
        <p:spPr>
          <a:xfrm>
            <a:off x="5984748" y="3621024"/>
            <a:ext cx="292608" cy="292608"/>
          </a:xfrm>
          <a:prstGeom prst="ellipse">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5000"/>
              </a:lnSpc>
              <a:spcAft>
                <a:spcPts val="0"/>
              </a:spcAft>
            </a:pPr>
            <a:r>
              <a:rPr sz="800" b="1">
                <a:solidFill>
                  <a:srgbClr val="FFFFFF"/>
                </a:solidFill>
                <a:latin typeface="Arial"/>
              </a:rPr>
              <a:t>10</a:t>
            </a:r>
          </a:p>
        </p:txBody>
      </p:sp>
      <p:sp>
        <p:nvSpPr>
          <p:cNvPr id="29" name="Rounded Rectangle 28"/>
          <p:cNvSpPr/>
          <p:nvPr/>
        </p:nvSpPr>
        <p:spPr>
          <a:xfrm>
            <a:off x="3950208" y="4087368"/>
            <a:ext cx="1979676" cy="457200"/>
          </a:xfrm>
          <a:prstGeom prst="roundRect">
            <a:avLst>
              <a:gd name="adj" fmla="val 2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5000"/>
              </a:lnSpc>
              <a:spcAft>
                <a:spcPts val="0"/>
              </a:spcAft>
            </a:pPr>
            <a:r>
              <a:rPr sz="900" b="1">
                <a:solidFill>
                  <a:srgbClr val="000000"/>
                </a:solidFill>
                <a:latin typeface="Arial"/>
              </a:rPr>
              <a:t>Offline mode</a:t>
            </a:r>
          </a:p>
          <a:p>
            <a:pPr algn="ctr">
              <a:lnSpc>
                <a:spcPct val="85000"/>
              </a:lnSpc>
              <a:spcAft>
                <a:spcPts val="0"/>
              </a:spcAft>
            </a:pPr>
            <a:r>
              <a:rPr sz="720" b="0">
                <a:solidFill>
                  <a:srgbClr val="000000"/>
                </a:solidFill>
                <a:latin typeface="Arial"/>
              </a:rPr>
              <a:t>On-device model, zero cloud</a:t>
            </a:r>
          </a:p>
        </p:txBody>
      </p:sp>
      <p:sp>
        <p:nvSpPr>
          <p:cNvPr id="30" name="Oval 29"/>
          <p:cNvSpPr/>
          <p:nvPr/>
        </p:nvSpPr>
        <p:spPr>
          <a:xfrm>
            <a:off x="3895344" y="4178807"/>
            <a:ext cx="292608" cy="292608"/>
          </a:xfrm>
          <a:prstGeom prst="ellipse">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5000"/>
              </a:lnSpc>
              <a:spcAft>
                <a:spcPts val="0"/>
              </a:spcAft>
            </a:pPr>
            <a:r>
              <a:rPr sz="800" b="1">
                <a:solidFill>
                  <a:srgbClr val="FFFFFF"/>
                </a:solidFill>
                <a:latin typeface="Arial"/>
              </a:rPr>
              <a:t>11</a:t>
            </a:r>
          </a:p>
        </p:txBody>
      </p:sp>
      <p:sp>
        <p:nvSpPr>
          <p:cNvPr id="31" name="Rounded Rectangle 30"/>
          <p:cNvSpPr/>
          <p:nvPr/>
        </p:nvSpPr>
        <p:spPr>
          <a:xfrm>
            <a:off x="6039612" y="4087368"/>
            <a:ext cx="1979676" cy="457200"/>
          </a:xfrm>
          <a:prstGeom prst="roundRect">
            <a:avLst>
              <a:gd name="adj" fmla="val 22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5000"/>
              </a:lnSpc>
              <a:spcAft>
                <a:spcPts val="0"/>
              </a:spcAft>
            </a:pPr>
            <a:r>
              <a:rPr sz="900" b="1">
                <a:solidFill>
                  <a:srgbClr val="000000"/>
                </a:solidFill>
                <a:latin typeface="Arial"/>
              </a:rPr>
              <a:t>Caregiver relay</a:t>
            </a:r>
          </a:p>
          <a:p>
            <a:pPr algn="ctr">
              <a:lnSpc>
                <a:spcPct val="85000"/>
              </a:lnSpc>
              <a:spcAft>
                <a:spcPts val="0"/>
              </a:spcAft>
            </a:pPr>
            <a:r>
              <a:rPr sz="720" b="0">
                <a:solidFill>
                  <a:srgbClr val="000000"/>
                </a:solidFill>
                <a:latin typeface="Arial"/>
              </a:rPr>
              <a:t>Digest for elders, one tap</a:t>
            </a:r>
          </a:p>
        </p:txBody>
      </p:sp>
      <p:sp>
        <p:nvSpPr>
          <p:cNvPr id="32" name="Oval 31"/>
          <p:cNvSpPr/>
          <p:nvPr/>
        </p:nvSpPr>
        <p:spPr>
          <a:xfrm>
            <a:off x="5984748" y="4178807"/>
            <a:ext cx="292608" cy="292608"/>
          </a:xfrm>
          <a:prstGeom prst="ellipse">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5000"/>
              </a:lnSpc>
              <a:spcAft>
                <a:spcPts val="0"/>
              </a:spcAft>
            </a:pPr>
            <a:r>
              <a:rPr sz="800" b="1">
                <a:solidFill>
                  <a:srgbClr val="FFFFFF"/>
                </a:solidFill>
                <a:latin typeface="Arial"/>
              </a:rPr>
              <a:t>12</a:t>
            </a:r>
          </a:p>
        </p:txBody>
      </p:sp>
      <p:sp>
        <p:nvSpPr>
          <p:cNvPr id="33" name="Rounded Rectangle 32"/>
          <p:cNvSpPr/>
          <p:nvPr/>
        </p:nvSpPr>
        <p:spPr>
          <a:xfrm>
            <a:off x="3950208" y="4663440"/>
            <a:ext cx="4069080" cy="1600200"/>
          </a:xfrm>
          <a:prstGeom prst="roundRect">
            <a:avLst>
              <a:gd name="adj" fmla="val 10000"/>
            </a:avLst>
          </a:prstGeom>
          <a:solidFill>
            <a:srgbClr val="E2F4F8"/>
          </a:solidFill>
          <a:ln w="9525">
            <a:solidFill>
              <a:srgbClr val="2E6C8B"/>
            </a:solid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ctr">
              <a:lnSpc>
                <a:spcPct val="95000"/>
              </a:lnSpc>
              <a:spcAft>
                <a:spcPts val="500"/>
              </a:spcAft>
            </a:pPr>
            <a:r>
              <a:rPr sz="1050" b="1">
                <a:solidFill>
                  <a:srgbClr val="2E6C8B"/>
                </a:solidFill>
                <a:latin typeface="Arial"/>
              </a:rPr>
              <a:t>WHAT ALREADY WORKS TODAY</a:t>
            </a:r>
          </a:p>
          <a:p>
            <a:pPr algn="l">
              <a:lnSpc>
                <a:spcPct val="95000"/>
              </a:lnSpc>
              <a:spcAft>
                <a:spcPts val="300"/>
              </a:spcAft>
            </a:pPr>
            <a:r>
              <a:rPr sz="869" b="0">
                <a:solidFill>
                  <a:srgbClr val="000000"/>
                </a:solidFill>
                <a:latin typeface="Arial"/>
              </a:rPr>
              <a:t>Live + historical message ingestion from every group, into a local encrypted SQLite store.</a:t>
            </a:r>
          </a:p>
          <a:p>
            <a:pPr algn="l">
              <a:lnSpc>
                <a:spcPct val="95000"/>
              </a:lnSpc>
              <a:spcAft>
                <a:spcPts val="300"/>
              </a:spcAft>
            </a:pPr>
            <a:r>
              <a:rPr sz="869" b="0">
                <a:solidFill>
                  <a:srgbClr val="000000"/>
                </a:solidFill>
                <a:latin typeface="Arial"/>
              </a:rPr>
              <a:t>Chunked map-reduce summariser with [n] citations mapped back to real message ids.</a:t>
            </a:r>
          </a:p>
          <a:p>
            <a:pPr algn="l">
              <a:lnSpc>
                <a:spcPct val="95000"/>
              </a:lnSpc>
              <a:spcAft>
                <a:spcPts val="300"/>
              </a:spcAft>
            </a:pPr>
            <a:r>
              <a:rPr sz="869" b="0">
                <a:solidFill>
                  <a:srgbClr val="000000"/>
                </a:solidFill>
                <a:latin typeface="Arial"/>
              </a:rPr>
              <a:t>Commands typed in your own chat: /sum  /unread  /topics  /saved  /schedule.</a:t>
            </a:r>
          </a:p>
          <a:p>
            <a:pPr algn="l">
              <a:lnSpc>
                <a:spcPct val="95000"/>
              </a:lnSpc>
              <a:spcAft>
                <a:spcPts val="0"/>
              </a:spcAft>
            </a:pPr>
            <a:r>
              <a:rPr sz="869" b="0">
                <a:solidFill>
                  <a:srgbClr val="000000"/>
                </a:solidFill>
                <a:latin typeface="Arial"/>
              </a:rPr>
              <a:t>★ save-to-vault, daily scheduler, PWA dashboard and jump-to-message extension.</a:t>
            </a:r>
          </a:p>
        </p:txBody>
      </p:sp>
      <p:sp>
        <p:nvSpPr>
          <p:cNvPr id="34" name="Rounded Rectangle 33"/>
          <p:cNvSpPr/>
          <p:nvPr/>
        </p:nvSpPr>
        <p:spPr>
          <a:xfrm>
            <a:off x="8156448" y="960120"/>
            <a:ext cx="3831336" cy="3246120"/>
          </a:xfrm>
          <a:prstGeom prst="roundRect">
            <a:avLst>
              <a:gd name="adj" fmla="val 1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ctr">
              <a:lnSpc>
                <a:spcPct val="95000"/>
              </a:lnSpc>
              <a:spcAft>
                <a:spcPts val="600"/>
              </a:spcAft>
            </a:pPr>
            <a:r>
              <a:rPr sz="1250" b="1">
                <a:solidFill>
                  <a:srgbClr val="000000"/>
                </a:solidFill>
                <a:latin typeface="Arial"/>
              </a:rPr>
              <a:t>Innovation &amp; Uniqueness</a:t>
            </a:r>
          </a:p>
          <a:p>
            <a:pPr algn="l">
              <a:lnSpc>
                <a:spcPct val="95000"/>
              </a:lnSpc>
              <a:spcAft>
                <a:spcPts val="100"/>
              </a:spcAft>
            </a:pPr>
            <a:r>
              <a:rPr sz="1000" b="1">
                <a:solidFill>
                  <a:srgbClr val="1F497D"/>
                </a:solidFill>
                <a:latin typeface="Arial"/>
              </a:rPr>
              <a:t>Zero-onboarding by design</a:t>
            </a:r>
          </a:p>
          <a:p>
            <a:pPr algn="l">
              <a:lnSpc>
                <a:spcPct val="95000"/>
              </a:lnSpc>
              <a:spcAft>
                <a:spcPts val="600"/>
              </a:spcAft>
            </a:pPr>
            <a:r>
              <a:rPr sz="900" b="0">
                <a:solidFill>
                  <a:srgbClr val="000000"/>
                </a:solidFill>
                <a:latin typeface="Arial"/>
              </a:rPr>
              <a:t>Lives inside WhatsApp's own "Message Yourself" chat. No download, no sign-up, no new screen to learn — the reason it can reach people an app never would.</a:t>
            </a:r>
          </a:p>
          <a:p>
            <a:pPr algn="l">
              <a:lnSpc>
                <a:spcPct val="95000"/>
              </a:lnSpc>
              <a:spcAft>
                <a:spcPts val="100"/>
              </a:spcAft>
            </a:pPr>
            <a:r>
              <a:rPr sz="1000" b="1">
                <a:solidFill>
                  <a:srgbClr val="1F497D"/>
                </a:solidFill>
                <a:latin typeface="Arial"/>
              </a:rPr>
              <a:t>Invisible to the group</a:t>
            </a:r>
          </a:p>
          <a:p>
            <a:pPr algn="l">
              <a:lnSpc>
                <a:spcPct val="95000"/>
              </a:lnSpc>
              <a:spcAft>
                <a:spcPts val="600"/>
              </a:spcAft>
            </a:pPr>
            <a:r>
              <a:rPr sz="900" b="0">
                <a:solidFill>
                  <a:srgbClr val="000000"/>
                </a:solidFill>
                <a:latin typeface="Arial"/>
              </a:rPr>
              <a:t>A linked device, not a bot. No admin rights, so no gatekeeper can decide who gets to be included.</a:t>
            </a:r>
          </a:p>
          <a:p>
            <a:pPr algn="l">
              <a:lnSpc>
                <a:spcPct val="95000"/>
              </a:lnSpc>
              <a:spcAft>
                <a:spcPts val="100"/>
              </a:spcAft>
            </a:pPr>
            <a:r>
              <a:rPr sz="1000" b="1">
                <a:solidFill>
                  <a:srgbClr val="1F497D"/>
                </a:solidFill>
                <a:latin typeface="Arial"/>
              </a:rPr>
              <a:t>Local-first and consent-first</a:t>
            </a:r>
          </a:p>
          <a:p>
            <a:pPr algn="l">
              <a:lnSpc>
                <a:spcPct val="95000"/>
              </a:lnSpc>
              <a:spcAft>
                <a:spcPts val="600"/>
              </a:spcAft>
            </a:pPr>
            <a:r>
              <a:rPr sz="900" b="0">
                <a:solidFill>
                  <a:srgbClr val="000000"/>
                </a:solidFill>
                <a:latin typeface="Arial"/>
              </a:rPr>
              <a:t>Runs on the user's own device with an on-device model. Their chats never become someone else's dataset.</a:t>
            </a:r>
          </a:p>
          <a:p>
            <a:pPr algn="l">
              <a:lnSpc>
                <a:spcPct val="95000"/>
              </a:lnSpc>
              <a:spcAft>
                <a:spcPts val="100"/>
              </a:spcAft>
            </a:pPr>
            <a:r>
              <a:rPr sz="1000" b="1">
                <a:solidFill>
                  <a:srgbClr val="1F497D"/>
                </a:solidFill>
                <a:latin typeface="Arial"/>
              </a:rPr>
              <a:t>Cite-or-omit summarisation</a:t>
            </a:r>
          </a:p>
          <a:p>
            <a:pPr algn="l">
              <a:lnSpc>
                <a:spcPct val="95000"/>
              </a:lnSpc>
              <a:spcAft>
                <a:spcPts val="0"/>
              </a:spcAft>
            </a:pPr>
            <a:r>
              <a:rPr sz="900" b="0">
                <a:solidFill>
                  <a:srgbClr val="000000"/>
                </a:solidFill>
                <a:latin typeface="Arial"/>
              </a:rPr>
              <a:t>Any claim the model cannot trace to a real message is dropped, not printed.</a:t>
            </a:r>
          </a:p>
        </p:txBody>
      </p:sp>
      <p:sp>
        <p:nvSpPr>
          <p:cNvPr id="35" name="Rounded Rectangle 34"/>
          <p:cNvSpPr/>
          <p:nvPr/>
        </p:nvSpPr>
        <p:spPr>
          <a:xfrm>
            <a:off x="8156448" y="4315968"/>
            <a:ext cx="3831336" cy="1947672"/>
          </a:xfrm>
          <a:prstGeom prst="roundRect">
            <a:avLst>
              <a:gd name="adj" fmla="val 10000"/>
            </a:avLst>
          </a:prstGeom>
          <a:solidFill>
            <a:srgbClr val="E2F4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ctr">
              <a:lnSpc>
                <a:spcPct val="95000"/>
              </a:lnSpc>
              <a:spcAft>
                <a:spcPts val="600"/>
              </a:spcAft>
            </a:pPr>
            <a:r>
              <a:rPr sz="1250" b="1">
                <a:solidFill>
                  <a:srgbClr val="000000"/>
                </a:solidFill>
                <a:latin typeface="Arial"/>
              </a:rPr>
              <a:t>Who It Includes</a:t>
            </a:r>
          </a:p>
          <a:p>
            <a:pPr algn="l">
              <a:lnSpc>
                <a:spcPct val="95000"/>
              </a:lnSpc>
              <a:spcAft>
                <a:spcPts val="400"/>
              </a:spcAft>
            </a:pPr>
            <a:r>
              <a:rPr sz="900" b="0">
                <a:solidFill>
                  <a:srgbClr val="000000"/>
                </a:solidFill>
                <a:latin typeface="Arial"/>
              </a:rPr>
              <a:t>Parents in school groups who cannot scroll 400 messages a day</a:t>
            </a:r>
          </a:p>
          <a:p>
            <a:pPr algn="l">
              <a:lnSpc>
                <a:spcPct val="95000"/>
              </a:lnSpc>
              <a:spcAft>
                <a:spcPts val="400"/>
              </a:spcAft>
            </a:pPr>
            <a:r>
              <a:rPr sz="900" b="0">
                <a:solidFill>
                  <a:srgbClr val="000000"/>
                </a:solidFill>
                <a:latin typeface="Arial"/>
              </a:rPr>
              <a:t>Farmers and SHG women following advisory, mandi and loan groups</a:t>
            </a:r>
          </a:p>
          <a:p>
            <a:pPr algn="l">
              <a:lnSpc>
                <a:spcPct val="95000"/>
              </a:lnSpc>
              <a:spcAft>
                <a:spcPts val="400"/>
              </a:spcAft>
            </a:pPr>
            <a:r>
              <a:rPr sz="900" b="0">
                <a:solidFill>
                  <a:srgbClr val="000000"/>
                </a:solidFill>
                <a:latin typeface="Arial"/>
              </a:rPr>
              <a:t>Low-literacy and first-time smartphone users — the digest is spoken</a:t>
            </a:r>
          </a:p>
          <a:p>
            <a:pPr algn="l">
              <a:lnSpc>
                <a:spcPct val="95000"/>
              </a:lnSpc>
              <a:spcAft>
                <a:spcPts val="400"/>
              </a:spcAft>
            </a:pPr>
            <a:r>
              <a:rPr sz="900" b="0">
                <a:solidFill>
                  <a:srgbClr val="000000"/>
                </a:solidFill>
                <a:latin typeface="Arial"/>
              </a:rPr>
              <a:t>Blind and low-vision users — a screen-reader-first dashboard</a:t>
            </a:r>
          </a:p>
          <a:p>
            <a:pPr algn="l">
              <a:lnSpc>
                <a:spcPct val="95000"/>
              </a:lnSpc>
              <a:spcAft>
                <a:spcPts val="400"/>
              </a:spcAft>
            </a:pPr>
            <a:r>
              <a:rPr sz="900" b="0">
                <a:solidFill>
                  <a:srgbClr val="000000"/>
                </a:solidFill>
                <a:latin typeface="Arial"/>
              </a:rPr>
              <a:t>Elderly members — a family caregiver can relay their digest</a:t>
            </a:r>
          </a:p>
          <a:p>
            <a:pPr algn="l">
              <a:lnSpc>
                <a:spcPct val="95000"/>
              </a:lnSpc>
              <a:spcAft>
                <a:spcPts val="0"/>
              </a:spcAft>
            </a:pPr>
            <a:r>
              <a:rPr sz="900" b="0">
                <a:solidFill>
                  <a:srgbClr val="000000"/>
                </a:solidFill>
                <a:latin typeface="Arial"/>
              </a:rPr>
              <a:t>ASHA, anganwadi and panchayat workers juggling 20+ groups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82880" y="91440"/>
            <a:ext cx="868680" cy="868680"/>
          </a:xfrm>
          <a:prstGeom prst="ellipse">
            <a:avLst/>
          </a:prstGeom>
          <a:solidFill>
            <a:srgbClr val="333652"/>
          </a:solidFill>
          <a:ln w="25400">
            <a:solidFill>
              <a:srgbClr val="57C99A"/>
            </a:solid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0000"/>
              </a:lnSpc>
              <a:spcAft>
                <a:spcPts val="0"/>
              </a:spcAft>
            </a:pPr>
            <a:r>
              <a:rPr sz="1300" b="1">
                <a:solidFill>
                  <a:srgbClr val="FFFFFF"/>
                </a:solidFill>
                <a:latin typeface="Arial"/>
              </a:rPr>
              <a:t>SAAR</a:t>
            </a:r>
          </a:p>
          <a:p>
            <a:pPr algn="ctr">
              <a:lnSpc>
                <a:spcPct val="90000"/>
              </a:lnSpc>
              <a:spcAft>
                <a:spcPts val="0"/>
              </a:spcAft>
            </a:pPr>
            <a:r>
              <a:rPr sz="800" b="1">
                <a:solidFill>
                  <a:srgbClr val="57C99A"/>
                </a:solidFill>
                <a:latin typeface="Arial"/>
              </a:rPr>
              <a:t>सार</a:t>
            </a:r>
          </a:p>
          <a:p>
            <a:pPr algn="ctr">
              <a:lnSpc>
                <a:spcPct val="90000"/>
              </a:lnSpc>
              <a:spcAft>
                <a:spcPts val="0"/>
              </a:spcAft>
            </a:pPr>
            <a:r>
              <a:rPr sz="450" b="1">
                <a:solidFill>
                  <a:srgbClr val="FFFFFF"/>
                </a:solidFill>
                <a:latin typeface="Arial"/>
              </a:rPr>
              <a:t>GROUP DIGEST</a:t>
            </a:r>
          </a:p>
        </p:txBody>
      </p:sp>
      <p:sp>
        <p:nvSpPr>
          <p:cNvPr id="3" name="TextBox 2"/>
          <p:cNvSpPr txBox="1"/>
          <p:nvPr/>
        </p:nvSpPr>
        <p:spPr>
          <a:xfrm>
            <a:off x="1188720" y="73152"/>
            <a:ext cx="9784080" cy="841248"/>
          </a:xfrm>
          <a:prstGeom prst="rect">
            <a:avLst/>
          </a:prstGeom>
          <a:noFill/>
        </p:spPr>
        <p:txBody>
          <a:bodyPr wrap="square" lIns="18288" rIns="18288" tIns="0" bIns="0" anchor="ctr">
            <a:spAutoFit/>
          </a:bodyPr>
          <a:lstStyle/>
          <a:p>
            <a:pPr algn="ctr">
              <a:lnSpc>
                <a:spcPct val="95000"/>
              </a:lnSpc>
              <a:spcAft>
                <a:spcPts val="0"/>
              </a:spcAft>
            </a:pPr>
            <a:r>
              <a:rPr sz="3100" b="1">
                <a:solidFill>
                  <a:srgbClr val="000000"/>
                </a:solidFill>
                <a:latin typeface="Times New Roman"/>
              </a:rPr>
              <a:t>TECHNICAL APPROACH</a:t>
            </a:r>
          </a:p>
        </p:txBody>
      </p:sp>
      <p:sp>
        <p:nvSpPr>
          <p:cNvPr id="4" name="Rectangle 3"/>
          <p:cNvSpPr/>
          <p:nvPr/>
        </p:nvSpPr>
        <p:spPr>
          <a:xfrm>
            <a:off x="0" y="6345936"/>
            <a:ext cx="12191695" cy="51206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1100" b="0">
                <a:solidFill>
                  <a:srgbClr val="FFFFFF"/>
                </a:solidFill>
                <a:latin typeface="Arial"/>
              </a:rPr>
              <a:t>@Idea Submission   |   Theme: Social Innovation &amp; Inclusive Development</a:t>
            </a:r>
          </a:p>
        </p:txBody>
      </p:sp>
      <p:sp>
        <p:nvSpPr>
          <p:cNvPr id="5" name="TextBox 4"/>
          <p:cNvSpPr txBox="1"/>
          <p:nvPr/>
        </p:nvSpPr>
        <p:spPr>
          <a:xfrm>
            <a:off x="11430000" y="6464808"/>
            <a:ext cx="566928" cy="274320"/>
          </a:xfrm>
          <a:prstGeom prst="rect">
            <a:avLst/>
          </a:prstGeom>
          <a:noFill/>
        </p:spPr>
        <p:txBody>
          <a:bodyPr wrap="square" lIns="18288" rIns="18288" tIns="0" bIns="0" anchor="ctr">
            <a:spAutoFit/>
          </a:bodyPr>
          <a:lstStyle/>
          <a:p>
            <a:pPr algn="r">
              <a:lnSpc>
                <a:spcPct val="95000"/>
              </a:lnSpc>
              <a:spcAft>
                <a:spcPts val="0"/>
              </a:spcAft>
            </a:pPr>
            <a:r>
              <a:rPr sz="1300" b="1">
                <a:solidFill>
                  <a:srgbClr val="FFFFFF"/>
                </a:solidFill>
                <a:latin typeface="Arial"/>
              </a:rPr>
              <a:t>3</a:t>
            </a:r>
          </a:p>
        </p:txBody>
      </p:sp>
      <p:sp>
        <p:nvSpPr>
          <p:cNvPr id="6" name="Rounded Rectangle 5"/>
          <p:cNvSpPr/>
          <p:nvPr/>
        </p:nvSpPr>
        <p:spPr>
          <a:xfrm>
            <a:off x="201168" y="932688"/>
            <a:ext cx="1527048" cy="256032"/>
          </a:xfrm>
          <a:prstGeom prst="roundRect">
            <a:avLst>
              <a:gd name="adj" fmla="val 30000"/>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00" b="1">
                <a:solidFill>
                  <a:srgbClr val="FFFFFF"/>
                </a:solidFill>
                <a:latin typeface="Arial"/>
              </a:rPr>
              <a:t>1 · CAPTURE</a:t>
            </a:r>
          </a:p>
        </p:txBody>
      </p:sp>
      <p:sp>
        <p:nvSpPr>
          <p:cNvPr id="7" name="Rounded Rectangle 6"/>
          <p:cNvSpPr/>
          <p:nvPr/>
        </p:nvSpPr>
        <p:spPr>
          <a:xfrm>
            <a:off x="1911096" y="932688"/>
            <a:ext cx="1527048" cy="256032"/>
          </a:xfrm>
          <a:prstGeom prst="roundRect">
            <a:avLst>
              <a:gd name="adj" fmla="val 30000"/>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00" b="1">
                <a:solidFill>
                  <a:srgbClr val="FFFFFF"/>
                </a:solidFill>
                <a:latin typeface="Arial"/>
              </a:rPr>
              <a:t>2 · INGEST</a:t>
            </a:r>
          </a:p>
        </p:txBody>
      </p:sp>
      <p:sp>
        <p:nvSpPr>
          <p:cNvPr id="8" name="Rounded Rectangle 7"/>
          <p:cNvSpPr/>
          <p:nvPr/>
        </p:nvSpPr>
        <p:spPr>
          <a:xfrm>
            <a:off x="3621024" y="932688"/>
            <a:ext cx="1527048" cy="256032"/>
          </a:xfrm>
          <a:prstGeom prst="roundRect">
            <a:avLst>
              <a:gd name="adj" fmla="val 30000"/>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00" b="1">
                <a:solidFill>
                  <a:srgbClr val="FFFFFF"/>
                </a:solidFill>
                <a:latin typeface="Arial"/>
              </a:rPr>
              <a:t>3 · MULTILINGUAL INTAKE</a:t>
            </a:r>
          </a:p>
        </p:txBody>
      </p:sp>
      <p:sp>
        <p:nvSpPr>
          <p:cNvPr id="9" name="Rounded Rectangle 8"/>
          <p:cNvSpPr/>
          <p:nvPr/>
        </p:nvSpPr>
        <p:spPr>
          <a:xfrm>
            <a:off x="5330952" y="932688"/>
            <a:ext cx="1527048" cy="256032"/>
          </a:xfrm>
          <a:prstGeom prst="roundRect">
            <a:avLst>
              <a:gd name="adj" fmla="val 30000"/>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00" b="1">
                <a:solidFill>
                  <a:srgbClr val="FFFFFF"/>
                </a:solidFill>
                <a:latin typeface="Arial"/>
              </a:rPr>
              <a:t>4 · LOCAL STORE</a:t>
            </a:r>
          </a:p>
        </p:txBody>
      </p:sp>
      <p:sp>
        <p:nvSpPr>
          <p:cNvPr id="10" name="Rounded Rectangle 9"/>
          <p:cNvSpPr/>
          <p:nvPr/>
        </p:nvSpPr>
        <p:spPr>
          <a:xfrm>
            <a:off x="7040880" y="932688"/>
            <a:ext cx="1527048" cy="256032"/>
          </a:xfrm>
          <a:prstGeom prst="roundRect">
            <a:avLst>
              <a:gd name="adj" fmla="val 30000"/>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00" b="1">
                <a:solidFill>
                  <a:srgbClr val="FFFFFF"/>
                </a:solidFill>
                <a:latin typeface="Arial"/>
              </a:rPr>
              <a:t>5 · SUMMARISE</a:t>
            </a:r>
          </a:p>
        </p:txBody>
      </p:sp>
      <p:sp>
        <p:nvSpPr>
          <p:cNvPr id="11" name="Rounded Rectangle 10"/>
          <p:cNvSpPr/>
          <p:nvPr/>
        </p:nvSpPr>
        <p:spPr>
          <a:xfrm>
            <a:off x="8750808" y="932688"/>
            <a:ext cx="1527048" cy="256032"/>
          </a:xfrm>
          <a:prstGeom prst="roundRect">
            <a:avLst>
              <a:gd name="adj" fmla="val 30000"/>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00" b="1">
                <a:solidFill>
                  <a:srgbClr val="FFFFFF"/>
                </a:solidFill>
                <a:latin typeface="Arial"/>
              </a:rPr>
              <a:t>6 · AI LAYER</a:t>
            </a:r>
          </a:p>
        </p:txBody>
      </p:sp>
      <p:sp>
        <p:nvSpPr>
          <p:cNvPr id="12" name="Rounded Rectangle 11"/>
          <p:cNvSpPr/>
          <p:nvPr/>
        </p:nvSpPr>
        <p:spPr>
          <a:xfrm>
            <a:off x="10460736" y="932688"/>
            <a:ext cx="1527048" cy="256032"/>
          </a:xfrm>
          <a:prstGeom prst="roundRect">
            <a:avLst>
              <a:gd name="adj" fmla="val 30000"/>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00" b="1">
                <a:solidFill>
                  <a:srgbClr val="FFFFFF"/>
                </a:solidFill>
                <a:latin typeface="Arial"/>
              </a:rPr>
              <a:t>7 · DELIVER &amp; ACT</a:t>
            </a:r>
          </a:p>
        </p:txBody>
      </p:sp>
      <p:sp>
        <p:nvSpPr>
          <p:cNvPr id="13" name="Rounded Rectangle 12"/>
          <p:cNvSpPr/>
          <p:nvPr/>
        </p:nvSpPr>
        <p:spPr>
          <a:xfrm>
            <a:off x="201168" y="1225296"/>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User's own WhatsApp
account, on their phone</a:t>
            </a:r>
          </a:p>
        </p:txBody>
      </p:sp>
      <p:sp>
        <p:nvSpPr>
          <p:cNvPr id="14" name="Rounded Rectangle 13"/>
          <p:cNvSpPr/>
          <p:nvPr/>
        </p:nvSpPr>
        <p:spPr>
          <a:xfrm>
            <a:off x="201168" y="1783080"/>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One-time QR scan
→ Linked Device</a:t>
            </a:r>
          </a:p>
        </p:txBody>
      </p:sp>
      <p:sp>
        <p:nvSpPr>
          <p:cNvPr id="15" name="Rounded Rectangle 14"/>
          <p:cNvSpPr/>
          <p:nvPr/>
        </p:nvSpPr>
        <p:spPr>
          <a:xfrm>
            <a:off x="201168" y="2340864"/>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Baileys v7 socket
(WhatsApp Web protocol)</a:t>
            </a:r>
          </a:p>
        </p:txBody>
      </p:sp>
      <p:sp>
        <p:nvSpPr>
          <p:cNvPr id="16" name="Rounded Rectangle 15"/>
          <p:cNvSpPr/>
          <p:nvPr/>
        </p:nvSpPr>
        <p:spPr>
          <a:xfrm>
            <a:off x="201168" y="2898648"/>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Session keys stored
locally in auth/</a:t>
            </a:r>
          </a:p>
        </p:txBody>
      </p:sp>
      <p:sp>
        <p:nvSpPr>
          <p:cNvPr id="17" name="Rounded Rectangle 16"/>
          <p:cNvSpPr/>
          <p:nvPr/>
        </p:nvSpPr>
        <p:spPr>
          <a:xfrm>
            <a:off x="201168" y="3456432"/>
            <a:ext cx="1527048" cy="457200"/>
          </a:xfrm>
          <a:prstGeom prst="roundRect">
            <a:avLst>
              <a:gd name="adj" fmla="val 2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No bot joins the group.
No admin rights needed.</a:t>
            </a:r>
          </a:p>
        </p:txBody>
      </p:sp>
      <p:sp>
        <p:nvSpPr>
          <p:cNvPr id="18" name="Rounded Rectangle 17"/>
          <p:cNvSpPr/>
          <p:nvPr/>
        </p:nvSpPr>
        <p:spPr>
          <a:xfrm>
            <a:off x="201168" y="4014215"/>
            <a:ext cx="1527048" cy="457200"/>
          </a:xfrm>
          <a:prstGeom prst="roundRect">
            <a:avLst>
              <a:gd name="adj" fmla="val 2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Never marks as read —
phone alerts stay intact.</a:t>
            </a:r>
          </a:p>
        </p:txBody>
      </p:sp>
      <p:sp>
        <p:nvSpPr>
          <p:cNvPr id="19" name="Rounded Rectangle 18"/>
          <p:cNvSpPr/>
          <p:nvPr/>
        </p:nvSpPr>
        <p:spPr>
          <a:xfrm>
            <a:off x="201168" y="4572000"/>
            <a:ext cx="1527048" cy="457200"/>
          </a:xfrm>
          <a:prstGeom prst="roundRect">
            <a:avLst>
              <a:gd name="adj" fmla="val 2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Runs on a phone, an old
laptop or a ₹0 cloud box</a:t>
            </a:r>
          </a:p>
        </p:txBody>
      </p:sp>
      <p:sp>
        <p:nvSpPr>
          <p:cNvPr id="20" name="Rounded Rectangle 19"/>
          <p:cNvSpPr/>
          <p:nvPr/>
        </p:nvSpPr>
        <p:spPr>
          <a:xfrm>
            <a:off x="1911096" y="1225296"/>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Live messages
(messages.upsert)</a:t>
            </a:r>
          </a:p>
        </p:txBody>
      </p:sp>
      <p:sp>
        <p:nvSpPr>
          <p:cNvPr id="21" name="Rounded Rectangle 20"/>
          <p:cNvSpPr/>
          <p:nvPr/>
        </p:nvSpPr>
        <p:spPr>
          <a:xfrm>
            <a:off x="1911096" y="1783080"/>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History sync of
older messages</a:t>
            </a:r>
          </a:p>
        </p:txBody>
      </p:sp>
      <p:sp>
        <p:nvSpPr>
          <p:cNvPr id="22" name="Rounded Rectangle 21"/>
          <p:cNvSpPr/>
          <p:nvPr/>
        </p:nvSpPr>
        <p:spPr>
          <a:xfrm>
            <a:off x="1911096" y="2340864"/>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Edits · deletes ·
reactions tracked</a:t>
            </a:r>
          </a:p>
        </p:txBody>
      </p:sp>
      <p:sp>
        <p:nvSpPr>
          <p:cNvPr id="23" name="Rounded Rectangle 22"/>
          <p:cNvSpPr/>
          <p:nvPr/>
        </p:nvSpPr>
        <p:spPr>
          <a:xfrm>
            <a:off x="1911096" y="2898648"/>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 reaction by user →
media downloaded</a:t>
            </a:r>
          </a:p>
        </p:txBody>
      </p:sp>
      <p:sp>
        <p:nvSpPr>
          <p:cNvPr id="24" name="Rounded Rectangle 23"/>
          <p:cNvSpPr/>
          <p:nvPr/>
        </p:nvSpPr>
        <p:spPr>
          <a:xfrm>
            <a:off x="1911096" y="3456432"/>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Sender + group
metadata (JIDs)</a:t>
            </a:r>
          </a:p>
        </p:txBody>
      </p:sp>
      <p:sp>
        <p:nvSpPr>
          <p:cNvPr id="25" name="Rounded Rectangle 24"/>
          <p:cNvSpPr/>
          <p:nvPr/>
        </p:nvSpPr>
        <p:spPr>
          <a:xfrm>
            <a:off x="1911096" y="4014215"/>
            <a:ext cx="1527048" cy="457200"/>
          </a:xfrm>
          <a:prstGeom prst="roundRect">
            <a:avLst>
              <a:gd name="adj" fmla="val 2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Only groups the user
opts in, one by one.</a:t>
            </a:r>
          </a:p>
        </p:txBody>
      </p:sp>
      <p:sp>
        <p:nvSpPr>
          <p:cNvPr id="26" name="Rounded Rectangle 25"/>
          <p:cNvSpPr/>
          <p:nvPr/>
        </p:nvSpPr>
        <p:spPr>
          <a:xfrm>
            <a:off x="1911096" y="4572000"/>
            <a:ext cx="1527048" cy="457200"/>
          </a:xfrm>
          <a:prstGeom prst="roundRect">
            <a:avLst>
              <a:gd name="adj" fmla="val 2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Read-only ingest —
zero messages sent out</a:t>
            </a:r>
          </a:p>
        </p:txBody>
      </p:sp>
      <p:sp>
        <p:nvSpPr>
          <p:cNvPr id="27" name="Rounded Rectangle 26"/>
          <p:cNvSpPr/>
          <p:nvPr/>
        </p:nvSpPr>
        <p:spPr>
          <a:xfrm>
            <a:off x="3621024" y="1225296"/>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Text, type, sender
and timestamp parsed</a:t>
            </a:r>
          </a:p>
        </p:txBody>
      </p:sp>
      <p:sp>
        <p:nvSpPr>
          <p:cNvPr id="28" name="Rounded Rectangle 27"/>
          <p:cNvSpPr/>
          <p:nvPr/>
        </p:nvSpPr>
        <p:spPr>
          <a:xfrm>
            <a:off x="3621024" y="1783080"/>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Voice note → text
(Whisper / Bhashini ASR)</a:t>
            </a:r>
          </a:p>
        </p:txBody>
      </p:sp>
      <p:sp>
        <p:nvSpPr>
          <p:cNvPr id="29" name="Rounded Rectangle 28"/>
          <p:cNvSpPr/>
          <p:nvPr/>
        </p:nvSpPr>
        <p:spPr>
          <a:xfrm>
            <a:off x="3621024" y="2340864"/>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Image · PDF → OCR
(circulars, forms)</a:t>
            </a:r>
          </a:p>
        </p:txBody>
      </p:sp>
      <p:sp>
        <p:nvSpPr>
          <p:cNvPr id="30" name="Rounded Rectangle 29"/>
          <p:cNvSpPr/>
          <p:nvPr/>
        </p:nvSpPr>
        <p:spPr>
          <a:xfrm>
            <a:off x="3621024" y="2898648"/>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Language detect:
22 languages + Hinglish</a:t>
            </a:r>
          </a:p>
        </p:txBody>
      </p:sp>
      <p:sp>
        <p:nvSpPr>
          <p:cNvPr id="31" name="Rounded Rectangle 30"/>
          <p:cNvSpPr/>
          <p:nvPr/>
        </p:nvSpPr>
        <p:spPr>
          <a:xfrm>
            <a:off x="3621024" y="3456432"/>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Code-mix normalise
and transliterate</a:t>
            </a:r>
          </a:p>
        </p:txBody>
      </p:sp>
      <p:sp>
        <p:nvSpPr>
          <p:cNvPr id="32" name="Rounded Rectangle 31"/>
          <p:cNvSpPr/>
          <p:nvPr/>
        </p:nvSpPr>
        <p:spPr>
          <a:xfrm>
            <a:off x="3621024" y="4014215"/>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Translate on demand
(IndicTrans2 / NLLB)</a:t>
            </a:r>
          </a:p>
        </p:txBody>
      </p:sp>
      <p:sp>
        <p:nvSpPr>
          <p:cNvPr id="33" name="Rounded Rectangle 32"/>
          <p:cNvSpPr/>
          <p:nvPr/>
        </p:nvSpPr>
        <p:spPr>
          <a:xfrm>
            <a:off x="3621024" y="4572000"/>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Local glossary: scheme,
crop and exam terms</a:t>
            </a:r>
          </a:p>
        </p:txBody>
      </p:sp>
      <p:sp>
        <p:nvSpPr>
          <p:cNvPr id="34" name="Rounded Rectangle 33"/>
          <p:cNvSpPr/>
          <p:nvPr/>
        </p:nvSpPr>
        <p:spPr>
          <a:xfrm>
            <a:off x="5330952" y="1225296"/>
            <a:ext cx="1527048" cy="457200"/>
          </a:xfrm>
          <a:prstGeom prst="roundRect">
            <a:avLst>
              <a:gd name="adj" fmla="val 20000"/>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FFFFFF"/>
                </a:solidFill>
                <a:latin typeface="Arial"/>
              </a:rPr>
              <a:t>SQLite on device
WAL · encrypted at rest</a:t>
            </a:r>
          </a:p>
        </p:txBody>
      </p:sp>
      <p:sp>
        <p:nvSpPr>
          <p:cNvPr id="35" name="Rounded Rectangle 34"/>
          <p:cNvSpPr/>
          <p:nvPr/>
        </p:nvSpPr>
        <p:spPr>
          <a:xfrm>
            <a:off x="5330952" y="1783080"/>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messages · chats</a:t>
            </a:r>
          </a:p>
        </p:txBody>
      </p:sp>
      <p:sp>
        <p:nvSpPr>
          <p:cNvPr id="36" name="Rounded Rectangle 35"/>
          <p:cNvSpPr/>
          <p:nvPr/>
        </p:nvSpPr>
        <p:spPr>
          <a:xfrm>
            <a:off x="5330952" y="2340864"/>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catch-up markers ·
topic profiles</a:t>
            </a:r>
          </a:p>
        </p:txBody>
      </p:sp>
      <p:sp>
        <p:nvSpPr>
          <p:cNvPr id="37" name="Rounded Rectangle 36"/>
          <p:cNvSpPr/>
          <p:nvPr/>
        </p:nvSpPr>
        <p:spPr>
          <a:xfrm>
            <a:off x="5330952" y="2898648"/>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 vault: docs and media
kept after chat clears</a:t>
            </a:r>
          </a:p>
        </p:txBody>
      </p:sp>
      <p:sp>
        <p:nvSpPr>
          <p:cNvPr id="38" name="Rounded Rectangle 37"/>
          <p:cNvSpPr/>
          <p:nvPr/>
        </p:nvSpPr>
        <p:spPr>
          <a:xfrm>
            <a:off x="5330952" y="3456432"/>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vector index for
"Ask my groups"</a:t>
            </a:r>
          </a:p>
        </p:txBody>
      </p:sp>
      <p:sp>
        <p:nvSpPr>
          <p:cNvPr id="39" name="Rounded Rectangle 38"/>
          <p:cNvSpPr/>
          <p:nvPr/>
        </p:nvSpPr>
        <p:spPr>
          <a:xfrm>
            <a:off x="5330952" y="4014215"/>
            <a:ext cx="1527048" cy="457200"/>
          </a:xfrm>
          <a:prstGeom prst="roundRect">
            <a:avLst>
              <a:gd name="adj" fmla="val 2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Nothing uploaded.
No member is profiled.</a:t>
            </a:r>
          </a:p>
        </p:txBody>
      </p:sp>
      <p:sp>
        <p:nvSpPr>
          <p:cNvPr id="40" name="Rounded Rectangle 39"/>
          <p:cNvSpPr/>
          <p:nvPr/>
        </p:nvSpPr>
        <p:spPr>
          <a:xfrm>
            <a:off x="5330952" y="4572000"/>
            <a:ext cx="1527048" cy="457200"/>
          </a:xfrm>
          <a:prstGeom prst="roundRect">
            <a:avLst>
              <a:gd name="adj" fmla="val 2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One tap erases a
group's stored history</a:t>
            </a:r>
          </a:p>
        </p:txBody>
      </p:sp>
      <p:sp>
        <p:nvSpPr>
          <p:cNvPr id="41" name="Rounded Rectangle 40"/>
          <p:cNvSpPr/>
          <p:nvPr/>
        </p:nvSpPr>
        <p:spPr>
          <a:xfrm>
            <a:off x="7040880" y="1225296"/>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Window: since last
catch-up, or a date range</a:t>
            </a:r>
          </a:p>
        </p:txBody>
      </p:sp>
      <p:sp>
        <p:nvSpPr>
          <p:cNvPr id="42" name="Rounded Rectangle 41"/>
          <p:cNvSpPr/>
          <p:nvPr/>
        </p:nvSpPr>
        <p:spPr>
          <a:xfrm>
            <a:off x="7040880" y="1783080"/>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Token-aware chunking</a:t>
            </a:r>
          </a:p>
        </p:txBody>
      </p:sp>
      <p:sp>
        <p:nvSpPr>
          <p:cNvPr id="43" name="Rounded Rectangle 42"/>
          <p:cNvSpPr/>
          <p:nvPr/>
        </p:nvSpPr>
        <p:spPr>
          <a:xfrm>
            <a:off x="7040880" y="2340864"/>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MAP: summarise
each chunk</a:t>
            </a:r>
          </a:p>
        </p:txBody>
      </p:sp>
      <p:sp>
        <p:nvSpPr>
          <p:cNvPr id="44" name="Rounded Rectangle 43"/>
          <p:cNvSpPr/>
          <p:nvPr/>
        </p:nvSpPr>
        <p:spPr>
          <a:xfrm>
            <a:off x="7040880" y="2898648"/>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REDUCE: merge into
one digest</a:t>
            </a:r>
          </a:p>
        </p:txBody>
      </p:sp>
      <p:sp>
        <p:nvSpPr>
          <p:cNvPr id="45" name="Rounded Rectangle 44"/>
          <p:cNvSpPr/>
          <p:nvPr/>
        </p:nvSpPr>
        <p:spPr>
          <a:xfrm>
            <a:off x="7040880" y="3456432"/>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Extract actions, dates,
fees, documents</a:t>
            </a:r>
          </a:p>
        </p:txBody>
      </p:sp>
      <p:sp>
        <p:nvSpPr>
          <p:cNvPr id="46" name="Rounded Rectangle 45"/>
          <p:cNvSpPr/>
          <p:nvPr/>
        </p:nvSpPr>
        <p:spPr>
          <a:xfrm>
            <a:off x="7040880" y="4014215"/>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Classify scam links
and viral rumours</a:t>
            </a:r>
          </a:p>
        </p:txBody>
      </p:sp>
      <p:sp>
        <p:nvSpPr>
          <p:cNvPr id="47" name="Rounded Rectangle 46"/>
          <p:cNvSpPr/>
          <p:nvPr/>
        </p:nvSpPr>
        <p:spPr>
          <a:xfrm>
            <a:off x="7040880" y="4572000"/>
            <a:ext cx="1527048" cy="457200"/>
          </a:xfrm>
          <a:prstGeom prst="roundRect">
            <a:avLst>
              <a:gd name="adj" fmla="val 20000"/>
            </a:avLst>
          </a:prstGeom>
          <a:solidFill>
            <a:srgbClr val="57C99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Cite each line as
[n] → message id</a:t>
            </a:r>
          </a:p>
        </p:txBody>
      </p:sp>
      <p:sp>
        <p:nvSpPr>
          <p:cNvPr id="48" name="Rounded Rectangle 47"/>
          <p:cNvSpPr/>
          <p:nvPr/>
        </p:nvSpPr>
        <p:spPr>
          <a:xfrm>
            <a:off x="8750808" y="1225296"/>
            <a:ext cx="1527048" cy="457200"/>
          </a:xfrm>
          <a:prstGeom prst="roundRect">
            <a:avLst>
              <a:gd name="adj" fmla="val 20000"/>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FFFFFF"/>
                </a:solidFill>
                <a:latin typeface="Arial"/>
              </a:rPr>
              <a:t>Model router</a:t>
            </a:r>
          </a:p>
        </p:txBody>
      </p:sp>
      <p:sp>
        <p:nvSpPr>
          <p:cNvPr id="49" name="Rounded Rectangle 48"/>
          <p:cNvSpPr/>
          <p:nvPr/>
        </p:nvSpPr>
        <p:spPr>
          <a:xfrm>
            <a:off x="8750808" y="1783080"/>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Offline: Ollama /
Gemma on the device</a:t>
            </a:r>
          </a:p>
        </p:txBody>
      </p:sp>
      <p:sp>
        <p:nvSpPr>
          <p:cNvPr id="50" name="Rounded Rectangle 49"/>
          <p:cNvSpPr/>
          <p:nvPr/>
        </p:nvSpPr>
        <p:spPr>
          <a:xfrm>
            <a:off x="8750808" y="2340864"/>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Online: Claude / GPT
for long context</a:t>
            </a:r>
          </a:p>
        </p:txBody>
      </p:sp>
      <p:sp>
        <p:nvSpPr>
          <p:cNvPr id="51" name="Rounded Rectangle 50"/>
          <p:cNvSpPr/>
          <p:nvPr/>
        </p:nvSpPr>
        <p:spPr>
          <a:xfrm>
            <a:off x="8750808" y="2898648"/>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Grounded prompt —
cite or omit</a:t>
            </a:r>
          </a:p>
        </p:txBody>
      </p:sp>
      <p:sp>
        <p:nvSpPr>
          <p:cNvPr id="52" name="Rounded Rectangle 51"/>
          <p:cNvSpPr/>
          <p:nvPr/>
        </p:nvSpPr>
        <p:spPr>
          <a:xfrm>
            <a:off x="8750808" y="3456432"/>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Self-check pass drops
uncited claims</a:t>
            </a:r>
          </a:p>
        </p:txBody>
      </p:sp>
      <p:sp>
        <p:nvSpPr>
          <p:cNvPr id="53" name="Rounded Rectangle 52"/>
          <p:cNvSpPr/>
          <p:nvPr/>
        </p:nvSpPr>
        <p:spPr>
          <a:xfrm>
            <a:off x="8750808" y="4014215"/>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Reading level tuned
to the user</a:t>
            </a:r>
          </a:p>
        </p:txBody>
      </p:sp>
      <p:sp>
        <p:nvSpPr>
          <p:cNvPr id="54" name="Rounded Rectangle 53"/>
          <p:cNvSpPr/>
          <p:nvPr/>
        </p:nvSpPr>
        <p:spPr>
          <a:xfrm>
            <a:off x="8750808" y="4572000"/>
            <a:ext cx="1527048" cy="457200"/>
          </a:xfrm>
          <a:prstGeom prst="roundRect">
            <a:avLst>
              <a:gd name="adj" fmla="val 2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Cost: about ₹1 per
group per day</a:t>
            </a:r>
          </a:p>
        </p:txBody>
      </p:sp>
      <p:sp>
        <p:nvSpPr>
          <p:cNvPr id="55" name="Rounded Rectangle 54"/>
          <p:cNvSpPr/>
          <p:nvPr/>
        </p:nvSpPr>
        <p:spPr>
          <a:xfrm>
            <a:off x="10460736" y="1225296"/>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Digest into the user's
own Message-Yourself chat</a:t>
            </a:r>
          </a:p>
        </p:txBody>
      </p:sp>
      <p:sp>
        <p:nvSpPr>
          <p:cNvPr id="56" name="Rounded Rectangle 55"/>
          <p:cNvSpPr/>
          <p:nvPr/>
        </p:nvSpPr>
        <p:spPr>
          <a:xfrm>
            <a:off x="10460736" y="1783080"/>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Spoken digest (TTS)
for low-literacy users</a:t>
            </a:r>
          </a:p>
        </p:txBody>
      </p:sp>
      <p:sp>
        <p:nvSpPr>
          <p:cNvPr id="57" name="Rounded Rectangle 56"/>
          <p:cNvSpPr/>
          <p:nvPr/>
        </p:nvSpPr>
        <p:spPr>
          <a:xfrm>
            <a:off x="10460736" y="2340864"/>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Priority alert if name,
child, crop or scheme cited</a:t>
            </a:r>
          </a:p>
        </p:txBody>
      </p:sp>
      <p:sp>
        <p:nvSpPr>
          <p:cNvPr id="58" name="Rounded Rectangle 57"/>
          <p:cNvSpPr/>
          <p:nvPr/>
        </p:nvSpPr>
        <p:spPr>
          <a:xfrm>
            <a:off x="10460736" y="2898648"/>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Deadlines become
reminders</a:t>
            </a:r>
          </a:p>
        </p:txBody>
      </p:sp>
      <p:sp>
        <p:nvSpPr>
          <p:cNvPr id="59" name="Rounded Rectangle 58"/>
          <p:cNvSpPr/>
          <p:nvPr/>
        </p:nvSpPr>
        <p:spPr>
          <a:xfrm>
            <a:off x="10460736" y="3456432"/>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Dashboard PWA —
screen-reader first</a:t>
            </a:r>
          </a:p>
        </p:txBody>
      </p:sp>
      <p:sp>
        <p:nvSpPr>
          <p:cNvPr id="60" name="Rounded Rectangle 59"/>
          <p:cNvSpPr/>
          <p:nvPr/>
        </p:nvSpPr>
        <p:spPr>
          <a:xfrm>
            <a:off x="10460736" y="4014215"/>
            <a:ext cx="1527048" cy="457200"/>
          </a:xfrm>
          <a:prstGeom prst="roundRect">
            <a:avLst>
              <a:gd name="adj" fmla="val 2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Tap a citation → jump
to the real message</a:t>
            </a:r>
          </a:p>
        </p:txBody>
      </p:sp>
      <p:sp>
        <p:nvSpPr>
          <p:cNvPr id="61" name="Rounded Rectangle 60"/>
          <p:cNvSpPr/>
          <p:nvPr/>
        </p:nvSpPr>
        <p:spPr>
          <a:xfrm>
            <a:off x="10460736" y="4572000"/>
            <a:ext cx="1527048" cy="457200"/>
          </a:xfrm>
          <a:prstGeom prst="roundRect">
            <a:avLst>
              <a:gd name="adj" fmla="val 20000"/>
            </a:avLst>
          </a:prstGeom>
          <a:solidFill>
            <a:srgbClr val="57C99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88000"/>
              </a:lnSpc>
              <a:spcAft>
                <a:spcPts val="0"/>
              </a:spcAft>
            </a:pPr>
            <a:r>
              <a:rPr sz="750" b="1">
                <a:solidFill>
                  <a:srgbClr val="000000"/>
                </a:solidFill>
                <a:latin typeface="Arial"/>
              </a:rPr>
              <a:t>Daily or weekly digest,
on a schedule</a:t>
            </a:r>
          </a:p>
        </p:txBody>
      </p:sp>
      <p:sp>
        <p:nvSpPr>
          <p:cNvPr id="62" name="Right Arrow 61"/>
          <p:cNvSpPr/>
          <p:nvPr/>
        </p:nvSpPr>
        <p:spPr>
          <a:xfrm>
            <a:off x="1751076" y="1380744"/>
            <a:ext cx="137160" cy="155448"/>
          </a:xfrm>
          <a:prstGeom prst="rightArrow">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ight Arrow 62"/>
          <p:cNvSpPr/>
          <p:nvPr/>
        </p:nvSpPr>
        <p:spPr>
          <a:xfrm>
            <a:off x="3461004" y="1380744"/>
            <a:ext cx="137160" cy="155448"/>
          </a:xfrm>
          <a:prstGeom prst="rightArrow">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ight Arrow 63"/>
          <p:cNvSpPr/>
          <p:nvPr/>
        </p:nvSpPr>
        <p:spPr>
          <a:xfrm>
            <a:off x="5170932" y="1380744"/>
            <a:ext cx="137160" cy="155448"/>
          </a:xfrm>
          <a:prstGeom prst="rightArrow">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ight Arrow 64"/>
          <p:cNvSpPr/>
          <p:nvPr/>
        </p:nvSpPr>
        <p:spPr>
          <a:xfrm>
            <a:off x="6880860" y="1380744"/>
            <a:ext cx="137160" cy="155448"/>
          </a:xfrm>
          <a:prstGeom prst="rightArrow">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ight Arrow 65"/>
          <p:cNvSpPr/>
          <p:nvPr/>
        </p:nvSpPr>
        <p:spPr>
          <a:xfrm>
            <a:off x="8590788" y="1380744"/>
            <a:ext cx="137160" cy="155448"/>
          </a:xfrm>
          <a:prstGeom prst="rightArrow">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ight Arrow 66"/>
          <p:cNvSpPr/>
          <p:nvPr/>
        </p:nvSpPr>
        <p:spPr>
          <a:xfrm>
            <a:off x="10300716" y="1380744"/>
            <a:ext cx="137160" cy="155448"/>
          </a:xfrm>
          <a:prstGeom prst="rightArrow">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Down Arrow 67"/>
          <p:cNvSpPr/>
          <p:nvPr/>
        </p:nvSpPr>
        <p:spPr>
          <a:xfrm>
            <a:off x="909828" y="1687068"/>
            <a:ext cx="109728" cy="91440"/>
          </a:xfrm>
          <a:prstGeom prst="downArrow">
            <a:avLst/>
          </a:prstGeom>
          <a:solidFill>
            <a:srgbClr val="1E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Down Arrow 68"/>
          <p:cNvSpPr/>
          <p:nvPr/>
        </p:nvSpPr>
        <p:spPr>
          <a:xfrm>
            <a:off x="909828" y="2244852"/>
            <a:ext cx="109728" cy="91440"/>
          </a:xfrm>
          <a:prstGeom prst="downArrow">
            <a:avLst/>
          </a:prstGeom>
          <a:solidFill>
            <a:srgbClr val="1E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Down Arrow 69"/>
          <p:cNvSpPr/>
          <p:nvPr/>
        </p:nvSpPr>
        <p:spPr>
          <a:xfrm>
            <a:off x="909828" y="2802636"/>
            <a:ext cx="109728" cy="91440"/>
          </a:xfrm>
          <a:prstGeom prst="downArrow">
            <a:avLst/>
          </a:prstGeom>
          <a:solidFill>
            <a:srgbClr val="1E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Down Arrow 70"/>
          <p:cNvSpPr/>
          <p:nvPr/>
        </p:nvSpPr>
        <p:spPr>
          <a:xfrm>
            <a:off x="909828" y="3360420"/>
            <a:ext cx="109728" cy="91440"/>
          </a:xfrm>
          <a:prstGeom prst="downArrow">
            <a:avLst/>
          </a:prstGeom>
          <a:solidFill>
            <a:srgbClr val="1E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Down Arrow 71"/>
          <p:cNvSpPr/>
          <p:nvPr/>
        </p:nvSpPr>
        <p:spPr>
          <a:xfrm>
            <a:off x="909828" y="3918204"/>
            <a:ext cx="109728" cy="91440"/>
          </a:xfrm>
          <a:prstGeom prst="downArrow">
            <a:avLst/>
          </a:prstGeom>
          <a:solidFill>
            <a:srgbClr val="1E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Down Arrow 72"/>
          <p:cNvSpPr/>
          <p:nvPr/>
        </p:nvSpPr>
        <p:spPr>
          <a:xfrm>
            <a:off x="909828" y="4475988"/>
            <a:ext cx="109728" cy="91440"/>
          </a:xfrm>
          <a:prstGeom prst="downArrow">
            <a:avLst/>
          </a:prstGeom>
          <a:solidFill>
            <a:srgbClr val="1E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Down Arrow 73"/>
          <p:cNvSpPr/>
          <p:nvPr/>
        </p:nvSpPr>
        <p:spPr>
          <a:xfrm>
            <a:off x="7749540" y="1687068"/>
            <a:ext cx="109728" cy="91440"/>
          </a:xfrm>
          <a:prstGeom prst="downArrow">
            <a:avLst/>
          </a:prstGeom>
          <a:solidFill>
            <a:srgbClr val="1E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Down Arrow 74"/>
          <p:cNvSpPr/>
          <p:nvPr/>
        </p:nvSpPr>
        <p:spPr>
          <a:xfrm>
            <a:off x="7749540" y="2244852"/>
            <a:ext cx="109728" cy="91440"/>
          </a:xfrm>
          <a:prstGeom prst="downArrow">
            <a:avLst/>
          </a:prstGeom>
          <a:solidFill>
            <a:srgbClr val="1E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Down Arrow 75"/>
          <p:cNvSpPr/>
          <p:nvPr/>
        </p:nvSpPr>
        <p:spPr>
          <a:xfrm>
            <a:off x="7749540" y="2802636"/>
            <a:ext cx="109728" cy="91440"/>
          </a:xfrm>
          <a:prstGeom prst="downArrow">
            <a:avLst/>
          </a:prstGeom>
          <a:solidFill>
            <a:srgbClr val="1E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Down Arrow 76"/>
          <p:cNvSpPr/>
          <p:nvPr/>
        </p:nvSpPr>
        <p:spPr>
          <a:xfrm>
            <a:off x="7749540" y="3360420"/>
            <a:ext cx="109728" cy="91440"/>
          </a:xfrm>
          <a:prstGeom prst="downArrow">
            <a:avLst/>
          </a:prstGeom>
          <a:solidFill>
            <a:srgbClr val="1E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Down Arrow 77"/>
          <p:cNvSpPr/>
          <p:nvPr/>
        </p:nvSpPr>
        <p:spPr>
          <a:xfrm>
            <a:off x="7749540" y="3918204"/>
            <a:ext cx="109728" cy="91440"/>
          </a:xfrm>
          <a:prstGeom prst="downArrow">
            <a:avLst/>
          </a:prstGeom>
          <a:solidFill>
            <a:srgbClr val="1E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Down Arrow 78"/>
          <p:cNvSpPr/>
          <p:nvPr/>
        </p:nvSpPr>
        <p:spPr>
          <a:xfrm>
            <a:off x="7749540" y="4475988"/>
            <a:ext cx="109728" cy="91440"/>
          </a:xfrm>
          <a:prstGeom prst="downArrow">
            <a:avLst/>
          </a:prstGeom>
          <a:solidFill>
            <a:srgbClr val="1E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201168" y="5138928"/>
            <a:ext cx="11786616" cy="274320"/>
          </a:xfrm>
          <a:prstGeom prst="roundRect">
            <a:avLst>
              <a:gd name="adj" fmla="val 45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1">
                <a:solidFill>
                  <a:srgbClr val="000000"/>
                </a:solidFill>
                <a:latin typeface="Arial"/>
              </a:rPr>
              <a:t>FEEDBACK LOOP   ·   user rates a digest  →  catch-up marker advances, topic profile and priority filters retrain  →  the next digest is shorter, sharper and more personal</a:t>
            </a:r>
          </a:p>
        </p:txBody>
      </p:sp>
      <p:sp>
        <p:nvSpPr>
          <p:cNvPr id="81" name="Rounded Rectangle 80"/>
          <p:cNvSpPr/>
          <p:nvPr/>
        </p:nvSpPr>
        <p:spPr>
          <a:xfrm>
            <a:off x="201168" y="5504688"/>
            <a:ext cx="1872996" cy="731520"/>
          </a:xfrm>
          <a:prstGeom prst="roundRect">
            <a:avLst>
              <a:gd name="adj" fmla="val 16000"/>
            </a:avLst>
          </a:prstGeom>
          <a:solidFill>
            <a:srgbClr val="2E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100"/>
              </a:spcAft>
            </a:pPr>
            <a:r>
              <a:rPr sz="900" b="1">
                <a:solidFill>
                  <a:srgbClr val="FFFFFF"/>
                </a:solidFill>
                <a:latin typeface="Arial"/>
              </a:rPr>
              <a:t>Runtime</a:t>
            </a:r>
          </a:p>
          <a:p>
            <a:pPr algn="ctr">
              <a:lnSpc>
                <a:spcPct val="90000"/>
              </a:lnSpc>
              <a:spcAft>
                <a:spcPts val="0"/>
              </a:spcAft>
            </a:pPr>
            <a:r>
              <a:rPr sz="750" b="0">
                <a:solidFill>
                  <a:srgbClr val="FFFFFF"/>
                </a:solidFill>
                <a:latin typeface="Arial"/>
              </a:rPr>
              <a:t>Node.js 22 · TypeScript strict ESM</a:t>
            </a:r>
          </a:p>
        </p:txBody>
      </p:sp>
      <p:sp>
        <p:nvSpPr>
          <p:cNvPr id="82" name="Rounded Rectangle 81"/>
          <p:cNvSpPr/>
          <p:nvPr/>
        </p:nvSpPr>
        <p:spPr>
          <a:xfrm>
            <a:off x="2183892" y="5504688"/>
            <a:ext cx="1872996" cy="731520"/>
          </a:xfrm>
          <a:prstGeom prst="roundRect">
            <a:avLst>
              <a:gd name="adj" fmla="val 16000"/>
            </a:avLst>
          </a:prstGeom>
          <a:solidFill>
            <a:srgbClr val="2E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100"/>
              </a:spcAft>
            </a:pPr>
            <a:r>
              <a:rPr sz="900" b="1">
                <a:solidFill>
                  <a:srgbClr val="FFFFFF"/>
                </a:solidFill>
                <a:latin typeface="Arial"/>
              </a:rPr>
              <a:t>WhatsApp</a:t>
            </a:r>
          </a:p>
          <a:p>
            <a:pPr algn="ctr">
              <a:lnSpc>
                <a:spcPct val="90000"/>
              </a:lnSpc>
              <a:spcAft>
                <a:spcPts val="0"/>
              </a:spcAft>
            </a:pPr>
            <a:r>
              <a:rPr sz="750" b="0">
                <a:solidFill>
                  <a:srgbClr val="FFFFFF"/>
                </a:solidFill>
                <a:latin typeface="Arial"/>
              </a:rPr>
              <a:t>Baileys v7 linked device · no Business-API fee</a:t>
            </a:r>
          </a:p>
        </p:txBody>
      </p:sp>
      <p:sp>
        <p:nvSpPr>
          <p:cNvPr id="83" name="Rounded Rectangle 82"/>
          <p:cNvSpPr/>
          <p:nvPr/>
        </p:nvSpPr>
        <p:spPr>
          <a:xfrm>
            <a:off x="4166616" y="5504688"/>
            <a:ext cx="1872996" cy="731520"/>
          </a:xfrm>
          <a:prstGeom prst="roundRect">
            <a:avLst>
              <a:gd name="adj" fmla="val 16000"/>
            </a:avLst>
          </a:prstGeom>
          <a:solidFill>
            <a:srgbClr val="2E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100"/>
              </a:spcAft>
            </a:pPr>
            <a:r>
              <a:rPr sz="900" b="1">
                <a:solidFill>
                  <a:srgbClr val="FFFFFF"/>
                </a:solidFill>
                <a:latin typeface="Arial"/>
              </a:rPr>
              <a:t>Data</a:t>
            </a:r>
          </a:p>
          <a:p>
            <a:pPr algn="ctr">
              <a:lnSpc>
                <a:spcPct val="90000"/>
              </a:lnSpc>
              <a:spcAft>
                <a:spcPts val="0"/>
              </a:spcAft>
            </a:pPr>
            <a:r>
              <a:rPr sz="750" b="0">
                <a:solidFill>
                  <a:srgbClr val="FFFFFF"/>
                </a:solidFill>
                <a:latin typeface="Arial"/>
              </a:rPr>
              <a:t>better-sqlite3 (WAL) · local-first · encrypted</a:t>
            </a:r>
          </a:p>
        </p:txBody>
      </p:sp>
      <p:sp>
        <p:nvSpPr>
          <p:cNvPr id="84" name="Rounded Rectangle 83"/>
          <p:cNvSpPr/>
          <p:nvPr/>
        </p:nvSpPr>
        <p:spPr>
          <a:xfrm>
            <a:off x="6149340" y="5504688"/>
            <a:ext cx="1872996" cy="731520"/>
          </a:xfrm>
          <a:prstGeom prst="roundRect">
            <a:avLst>
              <a:gd name="adj" fmla="val 16000"/>
            </a:avLst>
          </a:prstGeom>
          <a:solidFill>
            <a:srgbClr val="2E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100"/>
              </a:spcAft>
            </a:pPr>
            <a:r>
              <a:rPr sz="900" b="1">
                <a:solidFill>
                  <a:srgbClr val="FFFFFF"/>
                </a:solidFill>
                <a:latin typeface="Arial"/>
              </a:rPr>
              <a:t>AI</a:t>
            </a:r>
          </a:p>
          <a:p>
            <a:pPr algn="ctr">
              <a:lnSpc>
                <a:spcPct val="90000"/>
              </a:lnSpc>
              <a:spcAft>
                <a:spcPts val="0"/>
              </a:spcAft>
            </a:pPr>
            <a:r>
              <a:rPr sz="750" b="0">
                <a:solidFill>
                  <a:srgbClr val="FFFFFF"/>
                </a:solidFill>
                <a:latin typeface="Arial"/>
              </a:rPr>
              <a:t>Claude / GPT cloud · Ollama-Gemma offline · Whisper</a:t>
            </a:r>
          </a:p>
        </p:txBody>
      </p:sp>
      <p:sp>
        <p:nvSpPr>
          <p:cNvPr id="85" name="Rounded Rectangle 84"/>
          <p:cNvSpPr/>
          <p:nvPr/>
        </p:nvSpPr>
        <p:spPr>
          <a:xfrm>
            <a:off x="8132064" y="5504688"/>
            <a:ext cx="1872996" cy="731520"/>
          </a:xfrm>
          <a:prstGeom prst="roundRect">
            <a:avLst>
              <a:gd name="adj" fmla="val 16000"/>
            </a:avLst>
          </a:prstGeom>
          <a:solidFill>
            <a:srgbClr val="2E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100"/>
              </a:spcAft>
            </a:pPr>
            <a:r>
              <a:rPr sz="900" b="1">
                <a:solidFill>
                  <a:srgbClr val="FFFFFF"/>
                </a:solidFill>
                <a:latin typeface="Arial"/>
              </a:rPr>
              <a:t>Bharat stack</a:t>
            </a:r>
          </a:p>
          <a:p>
            <a:pPr algn="ctr">
              <a:lnSpc>
                <a:spcPct val="90000"/>
              </a:lnSpc>
              <a:spcAft>
                <a:spcPts val="0"/>
              </a:spcAft>
            </a:pPr>
            <a:r>
              <a:rPr sz="750" b="0">
                <a:solidFill>
                  <a:srgbClr val="FFFFFF"/>
                </a:solidFill>
                <a:latin typeface="Arial"/>
              </a:rPr>
              <a:t>Bhashini ASR + TTS · IndicTrans2 · 22 languages</a:t>
            </a:r>
          </a:p>
        </p:txBody>
      </p:sp>
      <p:sp>
        <p:nvSpPr>
          <p:cNvPr id="86" name="Rounded Rectangle 85"/>
          <p:cNvSpPr/>
          <p:nvPr/>
        </p:nvSpPr>
        <p:spPr>
          <a:xfrm>
            <a:off x="10114788" y="5504688"/>
            <a:ext cx="1872996" cy="731520"/>
          </a:xfrm>
          <a:prstGeom prst="roundRect">
            <a:avLst>
              <a:gd name="adj" fmla="val 16000"/>
            </a:avLst>
          </a:prstGeom>
          <a:solidFill>
            <a:srgbClr val="2E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100"/>
              </a:spcAft>
            </a:pPr>
            <a:r>
              <a:rPr sz="900" b="1">
                <a:solidFill>
                  <a:srgbClr val="FFFFFF"/>
                </a:solidFill>
                <a:latin typeface="Arial"/>
              </a:rPr>
              <a:t>Delivery</a:t>
            </a:r>
          </a:p>
          <a:p>
            <a:pPr algn="ctr">
              <a:lnSpc>
                <a:spcPct val="90000"/>
              </a:lnSpc>
              <a:spcAft>
                <a:spcPts val="0"/>
              </a:spcAft>
            </a:pPr>
            <a:r>
              <a:rPr sz="750" b="0">
                <a:solidFill>
                  <a:srgbClr val="FFFFFF"/>
                </a:solidFill>
                <a:latin typeface="Arial"/>
              </a:rPr>
              <a:t>PWA dashboard (node:http) · Chrome MV3 extension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82880" y="91440"/>
            <a:ext cx="868680" cy="868680"/>
          </a:xfrm>
          <a:prstGeom prst="ellipse">
            <a:avLst/>
          </a:prstGeom>
          <a:solidFill>
            <a:srgbClr val="333652"/>
          </a:solidFill>
          <a:ln w="25400">
            <a:solidFill>
              <a:srgbClr val="57C99A"/>
            </a:solid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0000"/>
              </a:lnSpc>
              <a:spcAft>
                <a:spcPts val="0"/>
              </a:spcAft>
            </a:pPr>
            <a:r>
              <a:rPr sz="1300" b="1">
                <a:solidFill>
                  <a:srgbClr val="FFFFFF"/>
                </a:solidFill>
                <a:latin typeface="Arial"/>
              </a:rPr>
              <a:t>SAAR</a:t>
            </a:r>
          </a:p>
          <a:p>
            <a:pPr algn="ctr">
              <a:lnSpc>
                <a:spcPct val="90000"/>
              </a:lnSpc>
              <a:spcAft>
                <a:spcPts val="0"/>
              </a:spcAft>
            </a:pPr>
            <a:r>
              <a:rPr sz="800" b="1">
                <a:solidFill>
                  <a:srgbClr val="57C99A"/>
                </a:solidFill>
                <a:latin typeface="Arial"/>
              </a:rPr>
              <a:t>सार</a:t>
            </a:r>
          </a:p>
          <a:p>
            <a:pPr algn="ctr">
              <a:lnSpc>
                <a:spcPct val="90000"/>
              </a:lnSpc>
              <a:spcAft>
                <a:spcPts val="0"/>
              </a:spcAft>
            </a:pPr>
            <a:r>
              <a:rPr sz="450" b="1">
                <a:solidFill>
                  <a:srgbClr val="FFFFFF"/>
                </a:solidFill>
                <a:latin typeface="Arial"/>
              </a:rPr>
              <a:t>GROUP DIGEST</a:t>
            </a:r>
          </a:p>
        </p:txBody>
      </p:sp>
      <p:sp>
        <p:nvSpPr>
          <p:cNvPr id="3" name="TextBox 2"/>
          <p:cNvSpPr txBox="1"/>
          <p:nvPr/>
        </p:nvSpPr>
        <p:spPr>
          <a:xfrm>
            <a:off x="1188720" y="73152"/>
            <a:ext cx="9784080" cy="841248"/>
          </a:xfrm>
          <a:prstGeom prst="rect">
            <a:avLst/>
          </a:prstGeom>
          <a:noFill/>
        </p:spPr>
        <p:txBody>
          <a:bodyPr wrap="square" lIns="18288" rIns="18288" tIns="0" bIns="0" anchor="ctr">
            <a:spAutoFit/>
          </a:bodyPr>
          <a:lstStyle/>
          <a:p>
            <a:pPr algn="ctr">
              <a:lnSpc>
                <a:spcPct val="95000"/>
              </a:lnSpc>
              <a:spcAft>
                <a:spcPts val="0"/>
              </a:spcAft>
            </a:pPr>
            <a:r>
              <a:rPr sz="3100" b="1">
                <a:solidFill>
                  <a:srgbClr val="000000"/>
                </a:solidFill>
                <a:latin typeface="Times New Roman"/>
              </a:rPr>
              <a:t>FEASIBILITY AND VIABILITY</a:t>
            </a:r>
          </a:p>
        </p:txBody>
      </p:sp>
      <p:sp>
        <p:nvSpPr>
          <p:cNvPr id="4" name="Rectangle 3"/>
          <p:cNvSpPr/>
          <p:nvPr/>
        </p:nvSpPr>
        <p:spPr>
          <a:xfrm>
            <a:off x="0" y="6345936"/>
            <a:ext cx="12191695" cy="51206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1100" b="0">
                <a:solidFill>
                  <a:srgbClr val="FFFFFF"/>
                </a:solidFill>
                <a:latin typeface="Arial"/>
              </a:rPr>
              <a:t>@Idea Submission   |   Theme: Social Innovation &amp; Inclusive Development</a:t>
            </a:r>
          </a:p>
        </p:txBody>
      </p:sp>
      <p:sp>
        <p:nvSpPr>
          <p:cNvPr id="5" name="TextBox 4"/>
          <p:cNvSpPr txBox="1"/>
          <p:nvPr/>
        </p:nvSpPr>
        <p:spPr>
          <a:xfrm>
            <a:off x="11430000" y="6464808"/>
            <a:ext cx="566928" cy="274320"/>
          </a:xfrm>
          <a:prstGeom prst="rect">
            <a:avLst/>
          </a:prstGeom>
          <a:noFill/>
        </p:spPr>
        <p:txBody>
          <a:bodyPr wrap="square" lIns="18288" rIns="18288" tIns="0" bIns="0" anchor="ctr">
            <a:spAutoFit/>
          </a:bodyPr>
          <a:lstStyle/>
          <a:p>
            <a:pPr algn="r">
              <a:lnSpc>
                <a:spcPct val="95000"/>
              </a:lnSpc>
              <a:spcAft>
                <a:spcPts val="0"/>
              </a:spcAft>
            </a:pPr>
            <a:r>
              <a:rPr sz="1300" b="1">
                <a:solidFill>
                  <a:srgbClr val="FFFFFF"/>
                </a:solidFill>
                <a:latin typeface="Arial"/>
              </a:rPr>
              <a:t>4</a:t>
            </a:r>
          </a:p>
        </p:txBody>
      </p:sp>
      <p:sp>
        <p:nvSpPr>
          <p:cNvPr id="6" name="Rounded Rectangle 5"/>
          <p:cNvSpPr/>
          <p:nvPr/>
        </p:nvSpPr>
        <p:spPr>
          <a:xfrm>
            <a:off x="201168" y="960120"/>
            <a:ext cx="2770632" cy="2560320"/>
          </a:xfrm>
          <a:prstGeom prst="roundRect">
            <a:avLst>
              <a:gd name="adj" fmla="val 1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ctr">
              <a:lnSpc>
                <a:spcPct val="95000"/>
              </a:lnSpc>
              <a:spcAft>
                <a:spcPts val="500"/>
              </a:spcAft>
            </a:pPr>
            <a:r>
              <a:rPr sz="1150" b="1">
                <a:solidFill>
                  <a:srgbClr val="000000"/>
                </a:solidFill>
                <a:latin typeface="Arial"/>
              </a:rPr>
              <a:t>TECHNICAL FEASIBILITY</a:t>
            </a:r>
          </a:p>
          <a:p>
            <a:pPr algn="l">
              <a:lnSpc>
                <a:spcPct val="95000"/>
              </a:lnSpc>
              <a:spcAft>
                <a:spcPts val="400"/>
              </a:spcAft>
            </a:pPr>
            <a:r>
              <a:rPr sz="869" b="0">
                <a:solidFill>
                  <a:srgbClr val="000000"/>
                </a:solidFill>
                <a:latin typeface="Arial"/>
              </a:rPr>
              <a:t>1.  Working prototype already runs: ingestion, local store, chunked map-reduce summariser, self-chat commands, dashboard.</a:t>
            </a:r>
          </a:p>
          <a:p>
            <a:pPr algn="l">
              <a:lnSpc>
                <a:spcPct val="95000"/>
              </a:lnSpc>
              <a:spcAft>
                <a:spcPts val="400"/>
              </a:spcAft>
            </a:pPr>
            <a:r>
              <a:rPr sz="869" b="0">
                <a:solidFill>
                  <a:srgbClr val="000000"/>
                </a:solidFill>
                <a:latin typeface="Arial"/>
              </a:rPr>
              <a:t>2.  Linked-device pairing is a one-time QR scan — no root, no custom ROM, no app install.</a:t>
            </a:r>
          </a:p>
          <a:p>
            <a:pPr algn="l">
              <a:lnSpc>
                <a:spcPct val="95000"/>
              </a:lnSpc>
              <a:spcAft>
                <a:spcPts val="400"/>
              </a:spcAft>
            </a:pPr>
            <a:r>
              <a:rPr sz="869" b="0">
                <a:solidFill>
                  <a:srgbClr val="000000"/>
                </a:solidFill>
                <a:latin typeface="Arial"/>
              </a:rPr>
              <a:t>3.  Summariser is model-agnostic; a 4 GB on-device model is enough for daily digests.</a:t>
            </a:r>
          </a:p>
          <a:p>
            <a:pPr algn="l">
              <a:lnSpc>
                <a:spcPct val="95000"/>
              </a:lnSpc>
              <a:spcAft>
                <a:spcPts val="400"/>
              </a:spcAft>
            </a:pPr>
            <a:r>
              <a:rPr sz="869" b="0">
                <a:solidFill>
                  <a:srgbClr val="000000"/>
                </a:solidFill>
                <a:latin typeface="Arial"/>
              </a:rPr>
              <a:t>4.  Speech and translation ride on proven stacks: Whisper, Bhashini, IndicTrans2.</a:t>
            </a:r>
          </a:p>
          <a:p>
            <a:pPr algn="l">
              <a:lnSpc>
                <a:spcPct val="95000"/>
              </a:lnSpc>
              <a:spcAft>
                <a:spcPts val="400"/>
              </a:spcAft>
            </a:pPr>
            <a:r>
              <a:rPr sz="869" b="0">
                <a:solidFill>
                  <a:srgbClr val="000000"/>
                </a:solidFill>
                <a:latin typeface="Arial"/>
              </a:rPr>
              <a:t>5.  Runs on a ₹0 cloud tier, an old laptop or a Raspberry Pi.</a:t>
            </a:r>
          </a:p>
        </p:txBody>
      </p:sp>
      <p:sp>
        <p:nvSpPr>
          <p:cNvPr id="7" name="Rounded Rectangle 6"/>
          <p:cNvSpPr/>
          <p:nvPr/>
        </p:nvSpPr>
        <p:spPr>
          <a:xfrm>
            <a:off x="3099816" y="960120"/>
            <a:ext cx="2770632" cy="2560320"/>
          </a:xfrm>
          <a:prstGeom prst="roundRect">
            <a:avLst>
              <a:gd name="adj" fmla="val 1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ctr">
              <a:lnSpc>
                <a:spcPct val="95000"/>
              </a:lnSpc>
              <a:spcAft>
                <a:spcPts val="500"/>
              </a:spcAft>
            </a:pPr>
            <a:r>
              <a:rPr sz="1150" b="1">
                <a:solidFill>
                  <a:srgbClr val="000000"/>
                </a:solidFill>
                <a:latin typeface="Arial"/>
              </a:rPr>
              <a:t>OPERATIONAL FEASIBILITY</a:t>
            </a:r>
          </a:p>
          <a:p>
            <a:pPr algn="l">
              <a:lnSpc>
                <a:spcPct val="95000"/>
              </a:lnSpc>
              <a:spcAft>
                <a:spcPts val="400"/>
              </a:spcAft>
            </a:pPr>
            <a:r>
              <a:rPr sz="869" b="0">
                <a:solidFill>
                  <a:srgbClr val="000000"/>
                </a:solidFill>
                <a:latin typeface="Arial"/>
              </a:rPr>
              <a:t>1.  The interface is a chat the user already opens daily — training cost is near zero.</a:t>
            </a:r>
          </a:p>
          <a:p>
            <a:pPr algn="l">
              <a:lnSpc>
                <a:spcPct val="95000"/>
              </a:lnSpc>
              <a:spcAft>
                <a:spcPts val="400"/>
              </a:spcAft>
            </a:pPr>
            <a:r>
              <a:rPr sz="869" b="0">
                <a:solidFill>
                  <a:srgbClr val="000000"/>
                </a:solidFill>
                <a:latin typeface="Arial"/>
              </a:rPr>
              <a:t>2.  One volunteer or ASHA worker can set up devices for a whole community in an afternoon.</a:t>
            </a:r>
          </a:p>
          <a:p>
            <a:pPr algn="l">
              <a:lnSpc>
                <a:spcPct val="95000"/>
              </a:lnSpc>
              <a:spcAft>
                <a:spcPts val="400"/>
              </a:spcAft>
            </a:pPr>
            <a:r>
              <a:rPr sz="869" b="0">
                <a:solidFill>
                  <a:srgbClr val="000000"/>
                </a:solidFill>
                <a:latin typeface="Arial"/>
              </a:rPr>
              <a:t>3.  Works on 2G-grade connectivity: a digest is a few KB of text and a short audio clip.</a:t>
            </a:r>
          </a:p>
          <a:p>
            <a:pPr algn="l">
              <a:lnSpc>
                <a:spcPct val="95000"/>
              </a:lnSpc>
              <a:spcAft>
                <a:spcPts val="400"/>
              </a:spcAft>
            </a:pPr>
            <a:r>
              <a:rPr sz="869" b="0">
                <a:solidFill>
                  <a:srgbClr val="000000"/>
                </a:solidFill>
                <a:latin typeface="Arial"/>
              </a:rPr>
              <a:t>4.  Degrades gracefully — if the model is unreachable, plain catch-up lists still arrive.</a:t>
            </a:r>
          </a:p>
          <a:p>
            <a:pPr algn="l">
              <a:lnSpc>
                <a:spcPct val="95000"/>
              </a:lnSpc>
              <a:spcAft>
                <a:spcPts val="400"/>
              </a:spcAft>
            </a:pPr>
            <a:r>
              <a:rPr sz="869" b="0">
                <a:solidFill>
                  <a:srgbClr val="000000"/>
                </a:solidFill>
                <a:latin typeface="Arial"/>
              </a:rPr>
              <a:t>5.  Scales one group at a time; no institution has to adopt it first.</a:t>
            </a:r>
          </a:p>
        </p:txBody>
      </p:sp>
      <p:sp>
        <p:nvSpPr>
          <p:cNvPr id="8" name="Rounded Rectangle 7"/>
          <p:cNvSpPr/>
          <p:nvPr/>
        </p:nvSpPr>
        <p:spPr>
          <a:xfrm>
            <a:off x="201168" y="3703320"/>
            <a:ext cx="2770632" cy="2560320"/>
          </a:xfrm>
          <a:prstGeom prst="roundRect">
            <a:avLst>
              <a:gd name="adj" fmla="val 10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ctr">
              <a:lnSpc>
                <a:spcPct val="95000"/>
              </a:lnSpc>
              <a:spcAft>
                <a:spcPts val="500"/>
              </a:spcAft>
            </a:pPr>
            <a:r>
              <a:rPr sz="1150" b="1">
                <a:solidFill>
                  <a:srgbClr val="000000"/>
                </a:solidFill>
                <a:latin typeface="Arial"/>
              </a:rPr>
              <a:t>ECONOMIC FEASIBILITY</a:t>
            </a:r>
          </a:p>
          <a:p>
            <a:pPr algn="l">
              <a:lnSpc>
                <a:spcPct val="95000"/>
              </a:lnSpc>
              <a:spcAft>
                <a:spcPts val="400"/>
              </a:spcAft>
            </a:pPr>
            <a:r>
              <a:rPr sz="869" b="0">
                <a:solidFill>
                  <a:srgbClr val="000000"/>
                </a:solidFill>
                <a:latin typeface="Arial"/>
              </a:rPr>
              <a:t>1.  No WhatsApp Business API cost, no per-message fee, no server per user.</a:t>
            </a:r>
          </a:p>
          <a:p>
            <a:pPr algn="l">
              <a:lnSpc>
                <a:spcPct val="95000"/>
              </a:lnSpc>
              <a:spcAft>
                <a:spcPts val="400"/>
              </a:spcAft>
            </a:pPr>
            <a:r>
              <a:rPr sz="869" b="0">
                <a:solidFill>
                  <a:srgbClr val="000000"/>
                </a:solidFill>
                <a:latin typeface="Arial"/>
              </a:rPr>
              <a:t>2.  Cloud model spend is about ₹1 per group per day; offline mode costs ₹0.</a:t>
            </a:r>
          </a:p>
          <a:p>
            <a:pPr algn="l">
              <a:lnSpc>
                <a:spcPct val="95000"/>
              </a:lnSpc>
              <a:spcAft>
                <a:spcPts val="400"/>
              </a:spcAft>
            </a:pPr>
            <a:r>
              <a:rPr sz="869" b="0">
                <a:solidFill>
                  <a:srgbClr val="000000"/>
                </a:solidFill>
                <a:latin typeface="Arial"/>
              </a:rPr>
              <a:t>3.  Free forever for individuals; schools, NGOs and panchayats fund the hosted tier.</a:t>
            </a:r>
          </a:p>
          <a:p>
            <a:pPr algn="l">
              <a:lnSpc>
                <a:spcPct val="95000"/>
              </a:lnSpc>
              <a:spcAft>
                <a:spcPts val="400"/>
              </a:spcAft>
            </a:pPr>
            <a:r>
              <a:rPr sz="869" b="0">
                <a:solidFill>
                  <a:srgbClr val="000000"/>
                </a:solidFill>
                <a:latin typeface="Arial"/>
              </a:rPr>
              <a:t>4.  One shared community box can serve a whole village or ward.</a:t>
            </a:r>
          </a:p>
          <a:p>
            <a:pPr algn="l">
              <a:lnSpc>
                <a:spcPct val="95000"/>
              </a:lnSpc>
              <a:spcAft>
                <a:spcPts val="400"/>
              </a:spcAft>
            </a:pPr>
            <a:r>
              <a:rPr sz="869" b="0">
                <a:solidFill>
                  <a:srgbClr val="000000"/>
                </a:solidFill>
                <a:latin typeface="Arial"/>
              </a:rPr>
              <a:t>5.  Open-source core keeps the cost of inclusion off the user.</a:t>
            </a:r>
          </a:p>
        </p:txBody>
      </p:sp>
      <p:sp>
        <p:nvSpPr>
          <p:cNvPr id="9" name="Rounded Rectangle 8"/>
          <p:cNvSpPr/>
          <p:nvPr/>
        </p:nvSpPr>
        <p:spPr>
          <a:xfrm>
            <a:off x="3099816" y="3703320"/>
            <a:ext cx="2770632" cy="2560320"/>
          </a:xfrm>
          <a:prstGeom prst="roundRect">
            <a:avLst>
              <a:gd name="adj" fmla="val 1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ctr">
              <a:lnSpc>
                <a:spcPct val="95000"/>
              </a:lnSpc>
              <a:spcAft>
                <a:spcPts val="500"/>
              </a:spcAft>
            </a:pPr>
            <a:r>
              <a:rPr sz="1150" b="1">
                <a:solidFill>
                  <a:srgbClr val="000000"/>
                </a:solidFill>
                <a:latin typeface="Arial"/>
              </a:rPr>
              <a:t>LEGAL, ETHICAL &amp; SOCIAL</a:t>
            </a:r>
          </a:p>
          <a:p>
            <a:pPr algn="l">
              <a:lnSpc>
                <a:spcPct val="95000"/>
              </a:lnSpc>
              <a:spcAft>
                <a:spcPts val="400"/>
              </a:spcAft>
            </a:pPr>
            <a:r>
              <a:rPr sz="869" b="0">
                <a:solidFill>
                  <a:srgbClr val="000000"/>
                </a:solidFill>
                <a:latin typeface="Arial"/>
              </a:rPr>
              <a:t>1.  Only the user's own account and own messages — no scraping of third parties.</a:t>
            </a:r>
          </a:p>
          <a:p>
            <a:pPr algn="l">
              <a:lnSpc>
                <a:spcPct val="95000"/>
              </a:lnSpc>
              <a:spcAft>
                <a:spcPts val="400"/>
              </a:spcAft>
            </a:pPr>
            <a:r>
              <a:rPr sz="869" b="0">
                <a:solidFill>
                  <a:srgbClr val="000000"/>
                </a:solidFill>
                <a:latin typeface="Arial"/>
              </a:rPr>
              <a:t>2.  Consent-first: summarisation is opt-in per group, and members are never profiled.</a:t>
            </a:r>
          </a:p>
          <a:p>
            <a:pPr algn="l">
              <a:lnSpc>
                <a:spcPct val="95000"/>
              </a:lnSpc>
              <a:spcAft>
                <a:spcPts val="400"/>
              </a:spcAft>
            </a:pPr>
            <a:r>
              <a:rPr sz="869" b="0">
                <a:solidFill>
                  <a:srgbClr val="000000"/>
                </a:solidFill>
                <a:latin typeface="Arial"/>
              </a:rPr>
              <a:t>3.  DPDP Act 2023 aligned by design: local storage, purpose limits, one-tap erase.</a:t>
            </a:r>
          </a:p>
          <a:p>
            <a:pPr algn="l">
              <a:lnSpc>
                <a:spcPct val="95000"/>
              </a:lnSpc>
              <a:spcAft>
                <a:spcPts val="400"/>
              </a:spcAft>
            </a:pPr>
            <a:r>
              <a:rPr sz="869" b="0">
                <a:solidFill>
                  <a:srgbClr val="000000"/>
                </a:solidFill>
                <a:latin typeface="Arial"/>
              </a:rPr>
              <a:t>4.  No content is ever sent back into a group, so no one can be impersonated.</a:t>
            </a:r>
          </a:p>
          <a:p>
            <a:pPr algn="l">
              <a:lnSpc>
                <a:spcPct val="95000"/>
              </a:lnSpc>
              <a:spcAft>
                <a:spcPts val="400"/>
              </a:spcAft>
            </a:pPr>
            <a:r>
              <a:rPr sz="869" b="0">
                <a:solidFill>
                  <a:srgbClr val="000000"/>
                </a:solidFill>
                <a:latin typeface="Arial"/>
              </a:rPr>
              <a:t>5.  Institutional deployments can migrate to the official WhatsApp Cloud API.</a:t>
            </a:r>
          </a:p>
        </p:txBody>
      </p:sp>
      <p:sp>
        <p:nvSpPr>
          <p:cNvPr id="10" name="TextBox 9"/>
          <p:cNvSpPr txBox="1"/>
          <p:nvPr/>
        </p:nvSpPr>
        <p:spPr>
          <a:xfrm>
            <a:off x="5998464" y="960120"/>
            <a:ext cx="5989320" cy="274320"/>
          </a:xfrm>
          <a:prstGeom prst="rect">
            <a:avLst/>
          </a:prstGeom>
          <a:noFill/>
        </p:spPr>
        <p:txBody>
          <a:bodyPr wrap="square" lIns="18288" rIns="18288" tIns="0" bIns="0" anchor="ctr">
            <a:spAutoFit/>
          </a:bodyPr>
          <a:lstStyle/>
          <a:p>
            <a:pPr algn="ctr">
              <a:lnSpc>
                <a:spcPct val="95000"/>
              </a:lnSpc>
              <a:spcAft>
                <a:spcPts val="0"/>
              </a:spcAft>
            </a:pPr>
            <a:r>
              <a:rPr sz="1200" b="1">
                <a:solidFill>
                  <a:srgbClr val="000000"/>
                </a:solidFill>
                <a:latin typeface="Arial"/>
              </a:rPr>
              <a:t>CHALLENGES  →  HOW WE OVERCOME THEM</a:t>
            </a:r>
          </a:p>
        </p:txBody>
      </p:sp>
      <p:sp>
        <p:nvSpPr>
          <p:cNvPr id="11" name="Chevron 10"/>
          <p:cNvSpPr/>
          <p:nvPr/>
        </p:nvSpPr>
        <p:spPr>
          <a:xfrm>
            <a:off x="5998464" y="1298448"/>
            <a:ext cx="2635300" cy="932688"/>
          </a:xfrm>
          <a:prstGeom prst="chevron">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54864" wrap="square"/>
          <a:lstStyle/>
          <a:p>
            <a:pPr algn="ctr">
              <a:lnSpc>
                <a:spcPct val="92000"/>
              </a:lnSpc>
              <a:spcAft>
                <a:spcPts val="0"/>
              </a:spcAft>
            </a:pPr>
            <a:r>
              <a:rPr sz="869" b="1">
                <a:solidFill>
                  <a:srgbClr val="000000"/>
                </a:solidFill>
                <a:latin typeface="Arial"/>
              </a:rPr>
              <a:t>Unofficial WhatsApp protocol may change or rate-limit</a:t>
            </a:r>
          </a:p>
        </p:txBody>
      </p:sp>
      <p:sp>
        <p:nvSpPr>
          <p:cNvPr id="12" name="Rounded Rectangle 11"/>
          <p:cNvSpPr/>
          <p:nvPr/>
        </p:nvSpPr>
        <p:spPr>
          <a:xfrm>
            <a:off x="8723604" y="1298448"/>
            <a:ext cx="3264179" cy="932688"/>
          </a:xfrm>
          <a:prstGeom prst="roundRect">
            <a:avLst>
              <a:gd name="adj" fmla="val 12000"/>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93000"/>
              </a:lnSpc>
              <a:spcAft>
                <a:spcPts val="0"/>
              </a:spcAft>
            </a:pPr>
            <a:r>
              <a:rPr sz="819" b="0">
                <a:solidFill>
                  <a:srgbClr val="000000"/>
                </a:solidFill>
                <a:latin typeface="Arial"/>
              </a:rPr>
              <a:t>Never send to groups, never mark read, human-like pacing. An adapter layer lets us swap to the official Cloud API without touching the app.</a:t>
            </a:r>
          </a:p>
        </p:txBody>
      </p:sp>
      <p:sp>
        <p:nvSpPr>
          <p:cNvPr id="13" name="Chevron 12"/>
          <p:cNvSpPr/>
          <p:nvPr/>
        </p:nvSpPr>
        <p:spPr>
          <a:xfrm>
            <a:off x="5998464" y="2276856"/>
            <a:ext cx="2635300" cy="932688"/>
          </a:xfrm>
          <a:prstGeom prst="chevron">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54864" wrap="square"/>
          <a:lstStyle/>
          <a:p>
            <a:pPr algn="ctr">
              <a:lnSpc>
                <a:spcPct val="92000"/>
              </a:lnSpc>
              <a:spcAft>
                <a:spcPts val="0"/>
              </a:spcAft>
            </a:pPr>
            <a:r>
              <a:rPr sz="869" b="1">
                <a:solidFill>
                  <a:srgbClr val="000000"/>
                </a:solidFill>
                <a:latin typeface="Arial"/>
              </a:rPr>
              <a:t>A summary could distort or invent a decision</a:t>
            </a:r>
          </a:p>
        </p:txBody>
      </p:sp>
      <p:sp>
        <p:nvSpPr>
          <p:cNvPr id="14" name="Rounded Rectangle 13"/>
          <p:cNvSpPr/>
          <p:nvPr/>
        </p:nvSpPr>
        <p:spPr>
          <a:xfrm>
            <a:off x="8723604" y="2276856"/>
            <a:ext cx="3264179" cy="932688"/>
          </a:xfrm>
          <a:prstGeom prst="roundRect">
            <a:avLst>
              <a:gd name="adj" fmla="val 12000"/>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93000"/>
              </a:lnSpc>
              <a:spcAft>
                <a:spcPts val="0"/>
              </a:spcAft>
            </a:pPr>
            <a:r>
              <a:rPr sz="819" b="0">
                <a:solidFill>
                  <a:srgbClr val="000000"/>
                </a:solidFill>
                <a:latin typeface="Arial"/>
              </a:rPr>
              <a:t>Cite-or-omit: uncited lines are dropped before delivery. Every digest links to the real message, and users rate each one.</a:t>
            </a:r>
          </a:p>
        </p:txBody>
      </p:sp>
      <p:sp>
        <p:nvSpPr>
          <p:cNvPr id="15" name="Chevron 14"/>
          <p:cNvSpPr/>
          <p:nvPr/>
        </p:nvSpPr>
        <p:spPr>
          <a:xfrm>
            <a:off x="5998464" y="3255264"/>
            <a:ext cx="2635300" cy="932688"/>
          </a:xfrm>
          <a:prstGeom prst="chevron">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54864" wrap="square"/>
          <a:lstStyle/>
          <a:p>
            <a:pPr algn="ctr">
              <a:lnSpc>
                <a:spcPct val="92000"/>
              </a:lnSpc>
              <a:spcAft>
                <a:spcPts val="0"/>
              </a:spcAft>
            </a:pPr>
            <a:r>
              <a:rPr sz="869" b="1">
                <a:solidFill>
                  <a:srgbClr val="000000"/>
                </a:solidFill>
                <a:latin typeface="Arial"/>
              </a:rPr>
              <a:t>Privacy of the other group members</a:t>
            </a:r>
          </a:p>
        </p:txBody>
      </p:sp>
      <p:sp>
        <p:nvSpPr>
          <p:cNvPr id="16" name="Rounded Rectangle 15"/>
          <p:cNvSpPr/>
          <p:nvPr/>
        </p:nvSpPr>
        <p:spPr>
          <a:xfrm>
            <a:off x="8723604" y="3255264"/>
            <a:ext cx="3264179" cy="932688"/>
          </a:xfrm>
          <a:prstGeom prst="roundRect">
            <a:avLst>
              <a:gd name="adj" fmla="val 12000"/>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93000"/>
              </a:lnSpc>
              <a:spcAft>
                <a:spcPts val="0"/>
              </a:spcAft>
            </a:pPr>
            <a:r>
              <a:rPr sz="819" b="0">
                <a:solidFill>
                  <a:srgbClr val="000000"/>
                </a:solidFill>
                <a:latin typeface="Arial"/>
              </a:rPr>
              <a:t>On-device processing, no member profiling, no export of anyone's text. In offline mode chats never leave the phone.</a:t>
            </a:r>
          </a:p>
        </p:txBody>
      </p:sp>
      <p:sp>
        <p:nvSpPr>
          <p:cNvPr id="17" name="Chevron 16"/>
          <p:cNvSpPr/>
          <p:nvPr/>
        </p:nvSpPr>
        <p:spPr>
          <a:xfrm>
            <a:off x="5998464" y="4233672"/>
            <a:ext cx="2635300" cy="932688"/>
          </a:xfrm>
          <a:prstGeom prst="chevron">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54864" wrap="square"/>
          <a:lstStyle/>
          <a:p>
            <a:pPr algn="ctr">
              <a:lnSpc>
                <a:spcPct val="92000"/>
              </a:lnSpc>
              <a:spcAft>
                <a:spcPts val="0"/>
              </a:spcAft>
            </a:pPr>
            <a:r>
              <a:rPr sz="869" b="1">
                <a:solidFill>
                  <a:srgbClr val="000000"/>
                </a:solidFill>
                <a:latin typeface="Arial"/>
              </a:rPr>
              <a:t>Code-mixed and dialect speech is hard to transcribe</a:t>
            </a:r>
          </a:p>
        </p:txBody>
      </p:sp>
      <p:sp>
        <p:nvSpPr>
          <p:cNvPr id="18" name="Rounded Rectangle 17"/>
          <p:cNvSpPr/>
          <p:nvPr/>
        </p:nvSpPr>
        <p:spPr>
          <a:xfrm>
            <a:off x="8723604" y="4233672"/>
            <a:ext cx="3264179" cy="932688"/>
          </a:xfrm>
          <a:prstGeom prst="roundRect">
            <a:avLst>
              <a:gd name="adj" fmla="val 12000"/>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93000"/>
              </a:lnSpc>
              <a:spcAft>
                <a:spcPts val="0"/>
              </a:spcAft>
            </a:pPr>
            <a:r>
              <a:rPr sz="819" b="0">
                <a:solidFill>
                  <a:srgbClr val="000000"/>
                </a:solidFill>
                <a:latin typeface="Arial"/>
              </a:rPr>
              <a:t>Bhashini and IndicTrans2 for Indian languages, plus a community-editable glossary of local scheme, crop and exam terms.</a:t>
            </a:r>
          </a:p>
        </p:txBody>
      </p:sp>
      <p:sp>
        <p:nvSpPr>
          <p:cNvPr id="19" name="Chevron 18"/>
          <p:cNvSpPr/>
          <p:nvPr/>
        </p:nvSpPr>
        <p:spPr>
          <a:xfrm>
            <a:off x="5998464" y="5212080"/>
            <a:ext cx="2635300" cy="932688"/>
          </a:xfrm>
          <a:prstGeom prst="chevron">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54864" wrap="square"/>
          <a:lstStyle/>
          <a:p>
            <a:pPr algn="ctr">
              <a:lnSpc>
                <a:spcPct val="92000"/>
              </a:lnSpc>
              <a:spcAft>
                <a:spcPts val="0"/>
              </a:spcAft>
            </a:pPr>
            <a:r>
              <a:rPr sz="869" b="1">
                <a:solidFill>
                  <a:srgbClr val="000000"/>
                </a:solidFill>
                <a:latin typeface="Arial"/>
              </a:rPr>
              <a:t>Low-end phones and patchy data</a:t>
            </a:r>
          </a:p>
        </p:txBody>
      </p:sp>
      <p:sp>
        <p:nvSpPr>
          <p:cNvPr id="20" name="Rounded Rectangle 19"/>
          <p:cNvSpPr/>
          <p:nvPr/>
        </p:nvSpPr>
        <p:spPr>
          <a:xfrm>
            <a:off x="8723604" y="5212080"/>
            <a:ext cx="3264179" cy="932688"/>
          </a:xfrm>
          <a:prstGeom prst="roundRect">
            <a:avLst>
              <a:gd name="adj" fmla="val 12000"/>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93000"/>
              </a:lnSpc>
              <a:spcAft>
                <a:spcPts val="0"/>
              </a:spcAft>
            </a:pPr>
            <a:r>
              <a:rPr sz="819" b="0">
                <a:solidFill>
                  <a:srgbClr val="000000"/>
                </a:solidFill>
                <a:latin typeface="Arial"/>
              </a:rPr>
              <a:t>Digests are a few KB plus a short audio clip; the heavy work runs on a shared community box or a free cloud tier.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82880" y="91440"/>
            <a:ext cx="868680" cy="868680"/>
          </a:xfrm>
          <a:prstGeom prst="ellipse">
            <a:avLst/>
          </a:prstGeom>
          <a:solidFill>
            <a:srgbClr val="333652"/>
          </a:solidFill>
          <a:ln w="25400">
            <a:solidFill>
              <a:srgbClr val="57C99A"/>
            </a:solid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0000"/>
              </a:lnSpc>
              <a:spcAft>
                <a:spcPts val="0"/>
              </a:spcAft>
            </a:pPr>
            <a:r>
              <a:rPr sz="1300" b="1">
                <a:solidFill>
                  <a:srgbClr val="FFFFFF"/>
                </a:solidFill>
                <a:latin typeface="Arial"/>
              </a:rPr>
              <a:t>SAAR</a:t>
            </a:r>
          </a:p>
          <a:p>
            <a:pPr algn="ctr">
              <a:lnSpc>
                <a:spcPct val="90000"/>
              </a:lnSpc>
              <a:spcAft>
                <a:spcPts val="0"/>
              </a:spcAft>
            </a:pPr>
            <a:r>
              <a:rPr sz="800" b="1">
                <a:solidFill>
                  <a:srgbClr val="57C99A"/>
                </a:solidFill>
                <a:latin typeface="Arial"/>
              </a:rPr>
              <a:t>सार</a:t>
            </a:r>
          </a:p>
          <a:p>
            <a:pPr algn="ctr">
              <a:lnSpc>
                <a:spcPct val="90000"/>
              </a:lnSpc>
              <a:spcAft>
                <a:spcPts val="0"/>
              </a:spcAft>
            </a:pPr>
            <a:r>
              <a:rPr sz="450" b="1">
                <a:solidFill>
                  <a:srgbClr val="FFFFFF"/>
                </a:solidFill>
                <a:latin typeface="Arial"/>
              </a:rPr>
              <a:t>GROUP DIGEST</a:t>
            </a:r>
          </a:p>
        </p:txBody>
      </p:sp>
      <p:sp>
        <p:nvSpPr>
          <p:cNvPr id="3" name="TextBox 2"/>
          <p:cNvSpPr txBox="1"/>
          <p:nvPr/>
        </p:nvSpPr>
        <p:spPr>
          <a:xfrm>
            <a:off x="1188720" y="73152"/>
            <a:ext cx="9784080" cy="841248"/>
          </a:xfrm>
          <a:prstGeom prst="rect">
            <a:avLst/>
          </a:prstGeom>
          <a:noFill/>
        </p:spPr>
        <p:txBody>
          <a:bodyPr wrap="square" lIns="18288" rIns="18288" tIns="0" bIns="0" anchor="ctr">
            <a:spAutoFit/>
          </a:bodyPr>
          <a:lstStyle/>
          <a:p>
            <a:pPr algn="ctr">
              <a:lnSpc>
                <a:spcPct val="95000"/>
              </a:lnSpc>
              <a:spcAft>
                <a:spcPts val="0"/>
              </a:spcAft>
            </a:pPr>
            <a:r>
              <a:rPr sz="3100" b="1">
                <a:solidFill>
                  <a:srgbClr val="000000"/>
                </a:solidFill>
                <a:latin typeface="Times New Roman"/>
              </a:rPr>
              <a:t>IMPACT AND BENEFITS</a:t>
            </a:r>
          </a:p>
        </p:txBody>
      </p:sp>
      <p:sp>
        <p:nvSpPr>
          <p:cNvPr id="4" name="Rectangle 3"/>
          <p:cNvSpPr/>
          <p:nvPr/>
        </p:nvSpPr>
        <p:spPr>
          <a:xfrm>
            <a:off x="0" y="6345936"/>
            <a:ext cx="12191695" cy="51206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1100" b="0">
                <a:solidFill>
                  <a:srgbClr val="FFFFFF"/>
                </a:solidFill>
                <a:latin typeface="Arial"/>
              </a:rPr>
              <a:t>@Idea Submission   |   Theme: Social Innovation &amp; Inclusive Development</a:t>
            </a:r>
          </a:p>
        </p:txBody>
      </p:sp>
      <p:sp>
        <p:nvSpPr>
          <p:cNvPr id="5" name="TextBox 4"/>
          <p:cNvSpPr txBox="1"/>
          <p:nvPr/>
        </p:nvSpPr>
        <p:spPr>
          <a:xfrm>
            <a:off x="11430000" y="6464808"/>
            <a:ext cx="566928" cy="274320"/>
          </a:xfrm>
          <a:prstGeom prst="rect">
            <a:avLst/>
          </a:prstGeom>
          <a:noFill/>
        </p:spPr>
        <p:txBody>
          <a:bodyPr wrap="square" lIns="18288" rIns="18288" tIns="0" bIns="0" anchor="ctr">
            <a:spAutoFit/>
          </a:bodyPr>
          <a:lstStyle/>
          <a:p>
            <a:pPr algn="r">
              <a:lnSpc>
                <a:spcPct val="95000"/>
              </a:lnSpc>
              <a:spcAft>
                <a:spcPts val="0"/>
              </a:spcAft>
            </a:pPr>
            <a:r>
              <a:rPr sz="1300" b="1">
                <a:solidFill>
                  <a:srgbClr val="FFFFFF"/>
                </a:solidFill>
                <a:latin typeface="Arial"/>
              </a:rPr>
              <a:t>5</a:t>
            </a:r>
          </a:p>
        </p:txBody>
      </p:sp>
      <p:sp>
        <p:nvSpPr>
          <p:cNvPr id="6" name="Rectangle 5"/>
          <p:cNvSpPr/>
          <p:nvPr/>
        </p:nvSpPr>
        <p:spPr>
          <a:xfrm>
            <a:off x="201168" y="960120"/>
            <a:ext cx="2862072" cy="329184"/>
          </a:xfrm>
          <a:prstGeom prst="rect">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950" b="1">
                <a:solidFill>
                  <a:srgbClr val="FFFFFF"/>
                </a:solidFill>
                <a:latin typeface="Arial"/>
              </a:rPr>
              <a:t>What the user actually gets</a:t>
            </a:r>
          </a:p>
        </p:txBody>
      </p:sp>
      <p:sp>
        <p:nvSpPr>
          <p:cNvPr id="7" name="Rectangle 6"/>
          <p:cNvSpPr/>
          <p:nvPr/>
        </p:nvSpPr>
        <p:spPr>
          <a:xfrm>
            <a:off x="3081528" y="960120"/>
            <a:ext cx="2208276" cy="329184"/>
          </a:xfrm>
          <a:prstGeom prst="rect">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950" b="1">
                <a:solidFill>
                  <a:srgbClr val="FFFFFF"/>
                </a:solidFill>
                <a:latin typeface="Arial"/>
              </a:rPr>
              <a:t>SAAR</a:t>
            </a:r>
          </a:p>
        </p:txBody>
      </p:sp>
      <p:sp>
        <p:nvSpPr>
          <p:cNvPr id="8" name="Rectangle 7"/>
          <p:cNvSpPr/>
          <p:nvPr/>
        </p:nvSpPr>
        <p:spPr>
          <a:xfrm>
            <a:off x="5308092" y="960120"/>
            <a:ext cx="2208276" cy="329184"/>
          </a:xfrm>
          <a:prstGeom prst="rect">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950" b="1">
                <a:solidFill>
                  <a:srgbClr val="FFFFFF"/>
                </a:solidFill>
                <a:latin typeface="Arial"/>
              </a:rPr>
              <a:t>Scrolling it yourself</a:t>
            </a:r>
          </a:p>
        </p:txBody>
      </p:sp>
      <p:sp>
        <p:nvSpPr>
          <p:cNvPr id="9" name="Rectangle 8"/>
          <p:cNvSpPr/>
          <p:nvPr/>
        </p:nvSpPr>
        <p:spPr>
          <a:xfrm>
            <a:off x="7534656" y="960120"/>
            <a:ext cx="2208276" cy="329184"/>
          </a:xfrm>
          <a:prstGeom prst="rect">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950" b="1">
                <a:solidFill>
                  <a:srgbClr val="FFFFFF"/>
                </a:solidFill>
                <a:latin typeface="Arial"/>
              </a:rPr>
              <a:t>A group bot / assistant</a:t>
            </a:r>
          </a:p>
        </p:txBody>
      </p:sp>
      <p:sp>
        <p:nvSpPr>
          <p:cNvPr id="10" name="Rectangle 9"/>
          <p:cNvSpPr/>
          <p:nvPr/>
        </p:nvSpPr>
        <p:spPr>
          <a:xfrm>
            <a:off x="9761220" y="960120"/>
            <a:ext cx="2208276" cy="329184"/>
          </a:xfrm>
          <a:prstGeom prst="rect">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950" b="1">
                <a:solidFill>
                  <a:srgbClr val="FFFFFF"/>
                </a:solidFill>
                <a:latin typeface="Arial"/>
              </a:rPr>
              <a:t>Built-in chat AI</a:t>
            </a:r>
          </a:p>
        </p:txBody>
      </p:sp>
      <p:sp>
        <p:nvSpPr>
          <p:cNvPr id="11" name="Rectangle 10"/>
          <p:cNvSpPr/>
          <p:nvPr/>
        </p:nvSpPr>
        <p:spPr>
          <a:xfrm>
            <a:off x="201168" y="1289304"/>
            <a:ext cx="2862072" cy="301751"/>
          </a:xfrm>
          <a:prstGeom prst="rect">
            <a:avLst/>
          </a:prstGeom>
          <a:solidFill>
            <a:srgbClr val="F4D7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95000"/>
              </a:lnSpc>
              <a:spcAft>
                <a:spcPts val="0"/>
              </a:spcAft>
            </a:pPr>
            <a:r>
              <a:rPr sz="850" b="1">
                <a:solidFill>
                  <a:srgbClr val="000000"/>
                </a:solidFill>
                <a:latin typeface="Arial"/>
              </a:rPr>
              <a:t>Effort to catch up on 400 messages</a:t>
            </a:r>
          </a:p>
        </p:txBody>
      </p:sp>
      <p:sp>
        <p:nvSpPr>
          <p:cNvPr id="12" name="Rectangle 11"/>
          <p:cNvSpPr/>
          <p:nvPr/>
        </p:nvSpPr>
        <p:spPr>
          <a:xfrm>
            <a:off x="3081528" y="1289304"/>
            <a:ext cx="2208276" cy="301751"/>
          </a:xfrm>
          <a:prstGeom prst="rect">
            <a:avLst/>
          </a:prstGeom>
          <a:solidFill>
            <a:srgbClr val="E2F4F8"/>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1">
                <a:solidFill>
                  <a:srgbClr val="2E6C8B"/>
                </a:solidFill>
                <a:latin typeface="Arial"/>
              </a:rPr>
              <a:t>One line to read or hear</a:t>
            </a:r>
          </a:p>
        </p:txBody>
      </p:sp>
      <p:sp>
        <p:nvSpPr>
          <p:cNvPr id="13" name="Rectangle 12"/>
          <p:cNvSpPr/>
          <p:nvPr/>
        </p:nvSpPr>
        <p:spPr>
          <a:xfrm>
            <a:off x="5308092" y="1289304"/>
            <a:ext cx="2208276" cy="301751"/>
          </a:xfrm>
          <a:prstGeom prst="rect">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20–40 minutes</a:t>
            </a:r>
          </a:p>
        </p:txBody>
      </p:sp>
      <p:sp>
        <p:nvSpPr>
          <p:cNvPr id="14" name="Rectangle 13"/>
          <p:cNvSpPr/>
          <p:nvPr/>
        </p:nvSpPr>
        <p:spPr>
          <a:xfrm>
            <a:off x="7534656" y="1289304"/>
            <a:ext cx="2208276" cy="301751"/>
          </a:xfrm>
          <a:prstGeom prst="rect">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Group must add the bot</a:t>
            </a:r>
          </a:p>
        </p:txBody>
      </p:sp>
      <p:sp>
        <p:nvSpPr>
          <p:cNvPr id="15" name="Rectangle 14"/>
          <p:cNvSpPr/>
          <p:nvPr/>
        </p:nvSpPr>
        <p:spPr>
          <a:xfrm>
            <a:off x="9761220" y="1289304"/>
            <a:ext cx="2208276" cy="301751"/>
          </a:xfrm>
          <a:prstGeom prst="rect">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Manual, one chat at a time</a:t>
            </a:r>
          </a:p>
        </p:txBody>
      </p:sp>
      <p:sp>
        <p:nvSpPr>
          <p:cNvPr id="16" name="Rectangle 15"/>
          <p:cNvSpPr/>
          <p:nvPr/>
        </p:nvSpPr>
        <p:spPr>
          <a:xfrm>
            <a:off x="201168" y="1609344"/>
            <a:ext cx="2862072" cy="301751"/>
          </a:xfrm>
          <a:prstGeom prst="rect">
            <a:avLst/>
          </a:prstGeom>
          <a:solidFill>
            <a:srgbClr val="F4D7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95000"/>
              </a:lnSpc>
              <a:spcAft>
                <a:spcPts val="0"/>
              </a:spcAft>
            </a:pPr>
            <a:r>
              <a:rPr sz="850" b="1">
                <a:solidFill>
                  <a:srgbClr val="000000"/>
                </a:solidFill>
                <a:latin typeface="Arial"/>
              </a:rPr>
              <a:t>Works for a low-literacy user</a:t>
            </a:r>
          </a:p>
        </p:txBody>
      </p:sp>
      <p:sp>
        <p:nvSpPr>
          <p:cNvPr id="17" name="Rectangle 16"/>
          <p:cNvSpPr/>
          <p:nvPr/>
        </p:nvSpPr>
        <p:spPr>
          <a:xfrm>
            <a:off x="3081528" y="1609344"/>
            <a:ext cx="2208276" cy="301751"/>
          </a:xfrm>
          <a:prstGeom prst="rect">
            <a:avLst/>
          </a:prstGeom>
          <a:solidFill>
            <a:srgbClr val="E2F4F8"/>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1">
                <a:solidFill>
                  <a:srgbClr val="2E6C8B"/>
                </a:solidFill>
                <a:latin typeface="Arial"/>
              </a:rPr>
              <a:t>Yes — spoken digest</a:t>
            </a:r>
          </a:p>
        </p:txBody>
      </p:sp>
      <p:sp>
        <p:nvSpPr>
          <p:cNvPr id="18" name="Rectangle 17"/>
          <p:cNvSpPr/>
          <p:nvPr/>
        </p:nvSpPr>
        <p:spPr>
          <a:xfrm>
            <a:off x="5308092" y="1609344"/>
            <a:ext cx="2208276" cy="301751"/>
          </a:xfrm>
          <a:prstGeom prst="rect">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No</a:t>
            </a:r>
          </a:p>
        </p:txBody>
      </p:sp>
      <p:sp>
        <p:nvSpPr>
          <p:cNvPr id="19" name="Rectangle 18"/>
          <p:cNvSpPr/>
          <p:nvPr/>
        </p:nvSpPr>
        <p:spPr>
          <a:xfrm>
            <a:off x="7534656" y="1609344"/>
            <a:ext cx="2208276" cy="301751"/>
          </a:xfrm>
          <a:prstGeom prst="rect">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No — text only</a:t>
            </a:r>
          </a:p>
        </p:txBody>
      </p:sp>
      <p:sp>
        <p:nvSpPr>
          <p:cNvPr id="20" name="Rectangle 19"/>
          <p:cNvSpPr/>
          <p:nvPr/>
        </p:nvSpPr>
        <p:spPr>
          <a:xfrm>
            <a:off x="9761220" y="1609344"/>
            <a:ext cx="2208276" cy="301751"/>
          </a:xfrm>
          <a:prstGeom prst="rect">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No — text only</a:t>
            </a:r>
          </a:p>
        </p:txBody>
      </p:sp>
      <p:sp>
        <p:nvSpPr>
          <p:cNvPr id="21" name="Rectangle 20"/>
          <p:cNvSpPr/>
          <p:nvPr/>
        </p:nvSpPr>
        <p:spPr>
          <a:xfrm>
            <a:off x="201168" y="1929384"/>
            <a:ext cx="2862072" cy="301751"/>
          </a:xfrm>
          <a:prstGeom prst="rect">
            <a:avLst/>
          </a:prstGeom>
          <a:solidFill>
            <a:srgbClr val="F4D7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95000"/>
              </a:lnSpc>
              <a:spcAft>
                <a:spcPts val="0"/>
              </a:spcAft>
            </a:pPr>
            <a:r>
              <a:rPr sz="850" b="1">
                <a:solidFill>
                  <a:srgbClr val="000000"/>
                </a:solidFill>
                <a:latin typeface="Arial"/>
              </a:rPr>
              <a:t>What the group members see</a:t>
            </a:r>
          </a:p>
        </p:txBody>
      </p:sp>
      <p:sp>
        <p:nvSpPr>
          <p:cNvPr id="22" name="Rectangle 21"/>
          <p:cNvSpPr/>
          <p:nvPr/>
        </p:nvSpPr>
        <p:spPr>
          <a:xfrm>
            <a:off x="3081528" y="1929384"/>
            <a:ext cx="2208276" cy="301751"/>
          </a:xfrm>
          <a:prstGeom prst="rect">
            <a:avLst/>
          </a:prstGeom>
          <a:solidFill>
            <a:srgbClr val="E2F4F8"/>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1">
                <a:solidFill>
                  <a:srgbClr val="2E6C8B"/>
                </a:solidFill>
                <a:latin typeface="Arial"/>
              </a:rPr>
              <a:t>Nothing at all</a:t>
            </a:r>
          </a:p>
        </p:txBody>
      </p:sp>
      <p:sp>
        <p:nvSpPr>
          <p:cNvPr id="23" name="Rectangle 22"/>
          <p:cNvSpPr/>
          <p:nvPr/>
        </p:nvSpPr>
        <p:spPr>
          <a:xfrm>
            <a:off x="5308092" y="1929384"/>
            <a:ext cx="2208276" cy="301751"/>
          </a:xfrm>
          <a:prstGeom prst="rect">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a:t>
            </a:r>
          </a:p>
        </p:txBody>
      </p:sp>
      <p:sp>
        <p:nvSpPr>
          <p:cNvPr id="24" name="Rectangle 23"/>
          <p:cNvSpPr/>
          <p:nvPr/>
        </p:nvSpPr>
        <p:spPr>
          <a:xfrm>
            <a:off x="7534656" y="1929384"/>
            <a:ext cx="2208276" cy="301751"/>
          </a:xfrm>
          <a:prstGeom prst="rect">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Bot is visible to all</a:t>
            </a:r>
          </a:p>
        </p:txBody>
      </p:sp>
      <p:sp>
        <p:nvSpPr>
          <p:cNvPr id="25" name="Rectangle 24"/>
          <p:cNvSpPr/>
          <p:nvPr/>
        </p:nvSpPr>
        <p:spPr>
          <a:xfrm>
            <a:off x="9761220" y="1929384"/>
            <a:ext cx="2208276" cy="301751"/>
          </a:xfrm>
          <a:prstGeom prst="rect">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Varies</a:t>
            </a:r>
          </a:p>
        </p:txBody>
      </p:sp>
      <p:sp>
        <p:nvSpPr>
          <p:cNvPr id="26" name="Rectangle 25"/>
          <p:cNvSpPr/>
          <p:nvPr/>
        </p:nvSpPr>
        <p:spPr>
          <a:xfrm>
            <a:off x="201168" y="2249424"/>
            <a:ext cx="2862072" cy="301751"/>
          </a:xfrm>
          <a:prstGeom prst="rect">
            <a:avLst/>
          </a:prstGeom>
          <a:solidFill>
            <a:srgbClr val="F4D7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95000"/>
              </a:lnSpc>
              <a:spcAft>
                <a:spcPts val="0"/>
              </a:spcAft>
            </a:pPr>
            <a:r>
              <a:rPr sz="850" b="1">
                <a:solidFill>
                  <a:srgbClr val="000000"/>
                </a:solidFill>
                <a:latin typeface="Arial"/>
              </a:rPr>
              <a:t>Needs admin permission</a:t>
            </a:r>
          </a:p>
        </p:txBody>
      </p:sp>
      <p:sp>
        <p:nvSpPr>
          <p:cNvPr id="27" name="Rectangle 26"/>
          <p:cNvSpPr/>
          <p:nvPr/>
        </p:nvSpPr>
        <p:spPr>
          <a:xfrm>
            <a:off x="3081528" y="2249424"/>
            <a:ext cx="2208276" cy="301751"/>
          </a:xfrm>
          <a:prstGeom prst="rect">
            <a:avLst/>
          </a:prstGeom>
          <a:solidFill>
            <a:srgbClr val="E2F4F8"/>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1">
                <a:solidFill>
                  <a:srgbClr val="2E6C8B"/>
                </a:solidFill>
                <a:latin typeface="Arial"/>
              </a:rPr>
              <a:t>No</a:t>
            </a:r>
          </a:p>
        </p:txBody>
      </p:sp>
      <p:sp>
        <p:nvSpPr>
          <p:cNvPr id="28" name="Rectangle 27"/>
          <p:cNvSpPr/>
          <p:nvPr/>
        </p:nvSpPr>
        <p:spPr>
          <a:xfrm>
            <a:off x="5308092" y="2249424"/>
            <a:ext cx="2208276" cy="301751"/>
          </a:xfrm>
          <a:prstGeom prst="rect">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No</a:t>
            </a:r>
          </a:p>
        </p:txBody>
      </p:sp>
      <p:sp>
        <p:nvSpPr>
          <p:cNvPr id="29" name="Rectangle 28"/>
          <p:cNvSpPr/>
          <p:nvPr/>
        </p:nvSpPr>
        <p:spPr>
          <a:xfrm>
            <a:off x="7534656" y="2249424"/>
            <a:ext cx="2208276" cy="301751"/>
          </a:xfrm>
          <a:prstGeom prst="rect">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Yes</a:t>
            </a:r>
          </a:p>
        </p:txBody>
      </p:sp>
      <p:sp>
        <p:nvSpPr>
          <p:cNvPr id="30" name="Rectangle 29"/>
          <p:cNvSpPr/>
          <p:nvPr/>
        </p:nvSpPr>
        <p:spPr>
          <a:xfrm>
            <a:off x="9761220" y="2249424"/>
            <a:ext cx="2208276" cy="301751"/>
          </a:xfrm>
          <a:prstGeom prst="rect">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No</a:t>
            </a:r>
          </a:p>
        </p:txBody>
      </p:sp>
      <p:sp>
        <p:nvSpPr>
          <p:cNvPr id="31" name="Rectangle 30"/>
          <p:cNvSpPr/>
          <p:nvPr/>
        </p:nvSpPr>
        <p:spPr>
          <a:xfrm>
            <a:off x="201168" y="2569464"/>
            <a:ext cx="2862072" cy="301751"/>
          </a:xfrm>
          <a:prstGeom prst="rect">
            <a:avLst/>
          </a:prstGeom>
          <a:solidFill>
            <a:srgbClr val="F4D7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95000"/>
              </a:lnSpc>
              <a:spcAft>
                <a:spcPts val="0"/>
              </a:spcAft>
            </a:pPr>
            <a:r>
              <a:rPr sz="850" b="1">
                <a:solidFill>
                  <a:srgbClr val="000000"/>
                </a:solidFill>
                <a:latin typeface="Arial"/>
              </a:rPr>
              <a:t>Data leaves the device</a:t>
            </a:r>
          </a:p>
        </p:txBody>
      </p:sp>
      <p:sp>
        <p:nvSpPr>
          <p:cNvPr id="32" name="Rectangle 31"/>
          <p:cNvSpPr/>
          <p:nvPr/>
        </p:nvSpPr>
        <p:spPr>
          <a:xfrm>
            <a:off x="3081528" y="2569464"/>
            <a:ext cx="2208276" cy="301751"/>
          </a:xfrm>
          <a:prstGeom prst="rect">
            <a:avLst/>
          </a:prstGeom>
          <a:solidFill>
            <a:srgbClr val="E2F4F8"/>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1">
                <a:solidFill>
                  <a:srgbClr val="2E6C8B"/>
                </a:solidFill>
                <a:latin typeface="Arial"/>
              </a:rPr>
              <a:t>Optional — offline mode</a:t>
            </a:r>
          </a:p>
        </p:txBody>
      </p:sp>
      <p:sp>
        <p:nvSpPr>
          <p:cNvPr id="33" name="Rectangle 32"/>
          <p:cNvSpPr/>
          <p:nvPr/>
        </p:nvSpPr>
        <p:spPr>
          <a:xfrm>
            <a:off x="5308092" y="2569464"/>
            <a:ext cx="2208276" cy="301751"/>
          </a:xfrm>
          <a:prstGeom prst="rect">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No</a:t>
            </a:r>
          </a:p>
        </p:txBody>
      </p:sp>
      <p:sp>
        <p:nvSpPr>
          <p:cNvPr id="34" name="Rectangle 33"/>
          <p:cNvSpPr/>
          <p:nvPr/>
        </p:nvSpPr>
        <p:spPr>
          <a:xfrm>
            <a:off x="7534656" y="2569464"/>
            <a:ext cx="2208276" cy="301751"/>
          </a:xfrm>
          <a:prstGeom prst="rect">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Yes, to the bot host</a:t>
            </a:r>
          </a:p>
        </p:txBody>
      </p:sp>
      <p:sp>
        <p:nvSpPr>
          <p:cNvPr id="35" name="Rectangle 34"/>
          <p:cNvSpPr/>
          <p:nvPr/>
        </p:nvSpPr>
        <p:spPr>
          <a:xfrm>
            <a:off x="9761220" y="2569464"/>
            <a:ext cx="2208276" cy="301751"/>
          </a:xfrm>
          <a:prstGeom prst="rect">
            <a:avLst/>
          </a:prstGeom>
          <a:solidFill>
            <a:srgbClr val="F2F2F2"/>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Yes, to the vendor</a:t>
            </a:r>
          </a:p>
        </p:txBody>
      </p:sp>
      <p:sp>
        <p:nvSpPr>
          <p:cNvPr id="36" name="Rectangle 35"/>
          <p:cNvSpPr/>
          <p:nvPr/>
        </p:nvSpPr>
        <p:spPr>
          <a:xfrm>
            <a:off x="201168" y="2889504"/>
            <a:ext cx="2862072" cy="301751"/>
          </a:xfrm>
          <a:prstGeom prst="rect">
            <a:avLst/>
          </a:prstGeom>
          <a:solidFill>
            <a:srgbClr val="F4D7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95000"/>
              </a:lnSpc>
              <a:spcAft>
                <a:spcPts val="0"/>
              </a:spcAft>
            </a:pPr>
            <a:r>
              <a:rPr sz="850" b="1">
                <a:solidFill>
                  <a:srgbClr val="000000"/>
                </a:solidFill>
                <a:latin typeface="Arial"/>
              </a:rPr>
              <a:t>Every claim traceable to a message</a:t>
            </a:r>
          </a:p>
        </p:txBody>
      </p:sp>
      <p:sp>
        <p:nvSpPr>
          <p:cNvPr id="37" name="Rectangle 36"/>
          <p:cNvSpPr/>
          <p:nvPr/>
        </p:nvSpPr>
        <p:spPr>
          <a:xfrm>
            <a:off x="3081528" y="2889504"/>
            <a:ext cx="2208276" cy="301751"/>
          </a:xfrm>
          <a:prstGeom prst="rect">
            <a:avLst/>
          </a:prstGeom>
          <a:solidFill>
            <a:srgbClr val="E2F4F8"/>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1">
                <a:solidFill>
                  <a:srgbClr val="2E6C8B"/>
                </a:solidFill>
                <a:latin typeface="Arial"/>
              </a:rPr>
              <a:t>Yes, cited [n]</a:t>
            </a:r>
          </a:p>
        </p:txBody>
      </p:sp>
      <p:sp>
        <p:nvSpPr>
          <p:cNvPr id="38" name="Rectangle 37"/>
          <p:cNvSpPr/>
          <p:nvPr/>
        </p:nvSpPr>
        <p:spPr>
          <a:xfrm>
            <a:off x="5308092" y="2889504"/>
            <a:ext cx="2208276" cy="301751"/>
          </a:xfrm>
          <a:prstGeom prst="rect">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You are the source</a:t>
            </a:r>
          </a:p>
        </p:txBody>
      </p:sp>
      <p:sp>
        <p:nvSpPr>
          <p:cNvPr id="39" name="Rectangle 38"/>
          <p:cNvSpPr/>
          <p:nvPr/>
        </p:nvSpPr>
        <p:spPr>
          <a:xfrm>
            <a:off x="7534656" y="2889504"/>
            <a:ext cx="2208276" cy="301751"/>
          </a:xfrm>
          <a:prstGeom prst="rect">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Rarely</a:t>
            </a:r>
          </a:p>
        </p:txBody>
      </p:sp>
      <p:sp>
        <p:nvSpPr>
          <p:cNvPr id="40" name="Rectangle 39"/>
          <p:cNvSpPr/>
          <p:nvPr/>
        </p:nvSpPr>
        <p:spPr>
          <a:xfrm>
            <a:off x="9761220" y="2889504"/>
            <a:ext cx="2208276" cy="301751"/>
          </a:xfrm>
          <a:prstGeom prst="rect">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50" b="0">
                <a:solidFill>
                  <a:srgbClr val="000000"/>
                </a:solidFill>
                <a:latin typeface="Arial"/>
              </a:rPr>
              <a:t>Rarely</a:t>
            </a:r>
          </a:p>
        </p:txBody>
      </p:sp>
      <p:sp>
        <p:nvSpPr>
          <p:cNvPr id="41" name="Rounded Rectangle 40"/>
          <p:cNvSpPr/>
          <p:nvPr/>
        </p:nvSpPr>
        <p:spPr>
          <a:xfrm>
            <a:off x="201168" y="3328416"/>
            <a:ext cx="3855720" cy="420624"/>
          </a:xfrm>
          <a:prstGeom prst="roundRect">
            <a:avLst>
              <a:gd name="adj" fmla="val 16000"/>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1450" b="1">
                <a:solidFill>
                  <a:srgbClr val="FFFFFF"/>
                </a:solidFill>
                <a:latin typeface="Arial"/>
              </a:rPr>
              <a:t>Social</a:t>
            </a:r>
          </a:p>
        </p:txBody>
      </p:sp>
      <p:sp>
        <p:nvSpPr>
          <p:cNvPr id="42" name="Rounded Rectangle 41"/>
          <p:cNvSpPr/>
          <p:nvPr/>
        </p:nvSpPr>
        <p:spPr>
          <a:xfrm>
            <a:off x="201168" y="3803904"/>
            <a:ext cx="3855720" cy="758952"/>
          </a:xfrm>
          <a:prstGeom prst="roundRect">
            <a:avLst>
              <a:gd name="adj" fmla="val 1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69" b="1">
                <a:solidFill>
                  <a:srgbClr val="000000"/>
                </a:solidFill>
                <a:latin typeface="Arial"/>
              </a:rPr>
              <a:t>A parent, farmer or SHG member stops missing the deadlines that decide money, school and health.</a:t>
            </a:r>
          </a:p>
        </p:txBody>
      </p:sp>
      <p:sp>
        <p:nvSpPr>
          <p:cNvPr id="43" name="Rounded Rectangle 42"/>
          <p:cNvSpPr/>
          <p:nvPr/>
        </p:nvSpPr>
        <p:spPr>
          <a:xfrm>
            <a:off x="201168" y="4654296"/>
            <a:ext cx="3855720" cy="758952"/>
          </a:xfrm>
          <a:prstGeom prst="roundRect">
            <a:avLst>
              <a:gd name="adj" fmla="val 1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69" b="1">
                <a:solidFill>
                  <a:srgbClr val="000000"/>
                </a:solidFill>
                <a:latin typeface="Arial"/>
              </a:rPr>
              <a:t>Literacy and eyesight stop being the price of admission — the digest is spoken and screen-reader ready.</a:t>
            </a:r>
          </a:p>
        </p:txBody>
      </p:sp>
      <p:sp>
        <p:nvSpPr>
          <p:cNvPr id="44" name="Rounded Rectangle 43"/>
          <p:cNvSpPr/>
          <p:nvPr/>
        </p:nvSpPr>
        <p:spPr>
          <a:xfrm>
            <a:off x="201168" y="5504688"/>
            <a:ext cx="3855720" cy="758952"/>
          </a:xfrm>
          <a:prstGeom prst="roundRect">
            <a:avLst>
              <a:gd name="adj" fmla="val 1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69" b="1">
                <a:solidFill>
                  <a:srgbClr val="000000"/>
                </a:solidFill>
                <a:latin typeface="Arial"/>
              </a:rPr>
              <a:t>Scam links and viral rumours are flagged before they reach first-time digital users.</a:t>
            </a:r>
          </a:p>
        </p:txBody>
      </p:sp>
      <p:sp>
        <p:nvSpPr>
          <p:cNvPr id="45" name="Rounded Rectangle 44"/>
          <p:cNvSpPr/>
          <p:nvPr/>
        </p:nvSpPr>
        <p:spPr>
          <a:xfrm>
            <a:off x="4166616" y="3328416"/>
            <a:ext cx="3855720" cy="420624"/>
          </a:xfrm>
          <a:prstGeom prst="roundRect">
            <a:avLst>
              <a:gd name="adj" fmla="val 16000"/>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1450" b="1">
                <a:solidFill>
                  <a:srgbClr val="FFFFFF"/>
                </a:solidFill>
                <a:latin typeface="Arial"/>
              </a:rPr>
              <a:t>Economic</a:t>
            </a:r>
          </a:p>
        </p:txBody>
      </p:sp>
      <p:sp>
        <p:nvSpPr>
          <p:cNvPr id="46" name="Rounded Rectangle 45"/>
          <p:cNvSpPr/>
          <p:nvPr/>
        </p:nvSpPr>
        <p:spPr>
          <a:xfrm>
            <a:off x="4166616" y="3803904"/>
            <a:ext cx="3855720" cy="758952"/>
          </a:xfrm>
          <a:prstGeom prst="roundRect">
            <a:avLst>
              <a:gd name="adj" fmla="val 1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69" b="1">
                <a:solidFill>
                  <a:srgbClr val="000000"/>
                </a:solidFill>
                <a:latin typeface="Arial"/>
              </a:rPr>
              <a:t>Missed fee, subsidy and scheme deadlines turn into money kept instead of money lost.</a:t>
            </a:r>
          </a:p>
        </p:txBody>
      </p:sp>
      <p:sp>
        <p:nvSpPr>
          <p:cNvPr id="47" name="Rounded Rectangle 46"/>
          <p:cNvSpPr/>
          <p:nvPr/>
        </p:nvSpPr>
        <p:spPr>
          <a:xfrm>
            <a:off x="4166616" y="4654296"/>
            <a:ext cx="3855720" cy="758952"/>
          </a:xfrm>
          <a:prstGeom prst="roundRect">
            <a:avLst>
              <a:gd name="adj" fmla="val 1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69" b="1">
                <a:solidFill>
                  <a:srgbClr val="000000"/>
                </a:solidFill>
                <a:latin typeface="Arial"/>
              </a:rPr>
              <a:t>Frontline workers reclaim close to an hour a day from scrolling 20 groups.</a:t>
            </a:r>
          </a:p>
        </p:txBody>
      </p:sp>
      <p:sp>
        <p:nvSpPr>
          <p:cNvPr id="48" name="Rounded Rectangle 47"/>
          <p:cNvSpPr/>
          <p:nvPr/>
        </p:nvSpPr>
        <p:spPr>
          <a:xfrm>
            <a:off x="4166616" y="5504688"/>
            <a:ext cx="3855720" cy="758952"/>
          </a:xfrm>
          <a:prstGeom prst="roundRect">
            <a:avLst>
              <a:gd name="adj" fmla="val 1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69" b="1">
                <a:solidFill>
                  <a:srgbClr val="000000"/>
                </a:solidFill>
                <a:latin typeface="Arial"/>
              </a:rPr>
              <a:t>Zero licence and zero per-message fee — one NGO box can cover a whole village.</a:t>
            </a:r>
          </a:p>
        </p:txBody>
      </p:sp>
      <p:sp>
        <p:nvSpPr>
          <p:cNvPr id="49" name="Rounded Rectangle 48"/>
          <p:cNvSpPr/>
          <p:nvPr/>
        </p:nvSpPr>
        <p:spPr>
          <a:xfrm>
            <a:off x="8132064" y="3328416"/>
            <a:ext cx="3855720" cy="420624"/>
          </a:xfrm>
          <a:prstGeom prst="roundRect">
            <a:avLst>
              <a:gd name="adj" fmla="val 16000"/>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1450" b="1">
                <a:solidFill>
                  <a:srgbClr val="FFFFFF"/>
                </a:solidFill>
                <a:latin typeface="Arial"/>
              </a:rPr>
              <a:t>Environmental &amp; Systemic</a:t>
            </a:r>
          </a:p>
        </p:txBody>
      </p:sp>
      <p:sp>
        <p:nvSpPr>
          <p:cNvPr id="50" name="Rounded Rectangle 49"/>
          <p:cNvSpPr/>
          <p:nvPr/>
        </p:nvSpPr>
        <p:spPr>
          <a:xfrm>
            <a:off x="8132064" y="3803904"/>
            <a:ext cx="3855720" cy="758952"/>
          </a:xfrm>
          <a:prstGeom prst="roundRect">
            <a:avLst>
              <a:gd name="adj" fmla="val 1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69" b="1">
                <a:solidFill>
                  <a:srgbClr val="000000"/>
                </a:solidFill>
                <a:latin typeface="Arial"/>
              </a:rPr>
              <a:t>Small on-device models replace repeated cloud calls, cutting compute and energy per digest.</a:t>
            </a:r>
          </a:p>
        </p:txBody>
      </p:sp>
      <p:sp>
        <p:nvSpPr>
          <p:cNvPr id="51" name="Rounded Rectangle 50"/>
          <p:cNvSpPr/>
          <p:nvPr/>
        </p:nvSpPr>
        <p:spPr>
          <a:xfrm>
            <a:off x="8132064" y="4654296"/>
            <a:ext cx="3855720" cy="758952"/>
          </a:xfrm>
          <a:prstGeom prst="roundRect">
            <a:avLst>
              <a:gd name="adj" fmla="val 1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69" b="1">
                <a:solidFill>
                  <a:srgbClr val="000000"/>
                </a:solidFill>
                <a:latin typeface="Arial"/>
              </a:rPr>
              <a:t>Fewer "kya hua?" re-forwards means less network traffic and less storage churn.</a:t>
            </a:r>
          </a:p>
        </p:txBody>
      </p:sp>
      <p:sp>
        <p:nvSpPr>
          <p:cNvPr id="52" name="Rounded Rectangle 51"/>
          <p:cNvSpPr/>
          <p:nvPr/>
        </p:nvSpPr>
        <p:spPr>
          <a:xfrm>
            <a:off x="8132064" y="5504688"/>
            <a:ext cx="3855720" cy="758952"/>
          </a:xfrm>
          <a:prstGeom prst="roundRect">
            <a:avLst>
              <a:gd name="adj" fmla="val 12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869" b="1">
                <a:solidFill>
                  <a:srgbClr val="000000"/>
                </a:solidFill>
                <a:latin typeface="Arial"/>
              </a:rPr>
              <a:t>The ★ vault keeps one copy of a circular instead of it being re-shared fifty times.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82880" y="91440"/>
            <a:ext cx="868680" cy="868680"/>
          </a:xfrm>
          <a:prstGeom prst="ellipse">
            <a:avLst/>
          </a:prstGeom>
          <a:solidFill>
            <a:srgbClr val="333652"/>
          </a:solidFill>
          <a:ln w="25400">
            <a:solidFill>
              <a:srgbClr val="57C99A"/>
            </a:solid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lnSpc>
                <a:spcPct val="90000"/>
              </a:lnSpc>
              <a:spcAft>
                <a:spcPts val="0"/>
              </a:spcAft>
            </a:pPr>
            <a:r>
              <a:rPr sz="1300" b="1">
                <a:solidFill>
                  <a:srgbClr val="FFFFFF"/>
                </a:solidFill>
                <a:latin typeface="Arial"/>
              </a:rPr>
              <a:t>SAAR</a:t>
            </a:r>
          </a:p>
          <a:p>
            <a:pPr algn="ctr">
              <a:lnSpc>
                <a:spcPct val="90000"/>
              </a:lnSpc>
              <a:spcAft>
                <a:spcPts val="0"/>
              </a:spcAft>
            </a:pPr>
            <a:r>
              <a:rPr sz="800" b="1">
                <a:solidFill>
                  <a:srgbClr val="57C99A"/>
                </a:solidFill>
                <a:latin typeface="Arial"/>
              </a:rPr>
              <a:t>सार</a:t>
            </a:r>
          </a:p>
          <a:p>
            <a:pPr algn="ctr">
              <a:lnSpc>
                <a:spcPct val="90000"/>
              </a:lnSpc>
              <a:spcAft>
                <a:spcPts val="0"/>
              </a:spcAft>
            </a:pPr>
            <a:r>
              <a:rPr sz="450" b="1">
                <a:solidFill>
                  <a:srgbClr val="FFFFFF"/>
                </a:solidFill>
                <a:latin typeface="Arial"/>
              </a:rPr>
              <a:t>GROUP DIGEST</a:t>
            </a:r>
          </a:p>
        </p:txBody>
      </p:sp>
      <p:sp>
        <p:nvSpPr>
          <p:cNvPr id="3" name="TextBox 2"/>
          <p:cNvSpPr txBox="1"/>
          <p:nvPr/>
        </p:nvSpPr>
        <p:spPr>
          <a:xfrm>
            <a:off x="1188720" y="73152"/>
            <a:ext cx="9784080" cy="841248"/>
          </a:xfrm>
          <a:prstGeom prst="rect">
            <a:avLst/>
          </a:prstGeom>
          <a:noFill/>
        </p:spPr>
        <p:txBody>
          <a:bodyPr wrap="square" lIns="18288" rIns="18288" tIns="0" bIns="0" anchor="ctr">
            <a:spAutoFit/>
          </a:bodyPr>
          <a:lstStyle/>
          <a:p>
            <a:pPr algn="ctr">
              <a:lnSpc>
                <a:spcPct val="95000"/>
              </a:lnSpc>
              <a:spcAft>
                <a:spcPts val="0"/>
              </a:spcAft>
            </a:pPr>
            <a:r>
              <a:rPr sz="3100" b="1">
                <a:solidFill>
                  <a:srgbClr val="000000"/>
                </a:solidFill>
                <a:latin typeface="Times New Roman"/>
              </a:rPr>
              <a:t>RESEARCH  AND REFERENCES</a:t>
            </a:r>
          </a:p>
        </p:txBody>
      </p:sp>
      <p:sp>
        <p:nvSpPr>
          <p:cNvPr id="4" name="Rectangle 3"/>
          <p:cNvSpPr/>
          <p:nvPr/>
        </p:nvSpPr>
        <p:spPr>
          <a:xfrm>
            <a:off x="0" y="6345936"/>
            <a:ext cx="12191695" cy="51206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0"/>
              </a:spcAft>
            </a:pPr>
            <a:r>
              <a:rPr sz="1100" b="0">
                <a:solidFill>
                  <a:srgbClr val="FFFFFF"/>
                </a:solidFill>
                <a:latin typeface="Arial"/>
              </a:rPr>
              <a:t>@Idea Submission   |   Theme: Social Innovation &amp; Inclusive Development</a:t>
            </a:r>
          </a:p>
        </p:txBody>
      </p:sp>
      <p:sp>
        <p:nvSpPr>
          <p:cNvPr id="5" name="TextBox 4"/>
          <p:cNvSpPr txBox="1"/>
          <p:nvPr/>
        </p:nvSpPr>
        <p:spPr>
          <a:xfrm>
            <a:off x="11430000" y="6464808"/>
            <a:ext cx="566928" cy="274320"/>
          </a:xfrm>
          <a:prstGeom prst="rect">
            <a:avLst/>
          </a:prstGeom>
          <a:noFill/>
        </p:spPr>
        <p:txBody>
          <a:bodyPr wrap="square" lIns="18288" rIns="18288" tIns="0" bIns="0" anchor="ctr">
            <a:spAutoFit/>
          </a:bodyPr>
          <a:lstStyle/>
          <a:p>
            <a:pPr algn="r">
              <a:lnSpc>
                <a:spcPct val="95000"/>
              </a:lnSpc>
              <a:spcAft>
                <a:spcPts val="0"/>
              </a:spcAft>
            </a:pPr>
            <a:r>
              <a:rPr sz="1300" b="1">
                <a:solidFill>
                  <a:srgbClr val="FFFFFF"/>
                </a:solidFill>
                <a:latin typeface="Arial"/>
              </a:rPr>
              <a:t>6</a:t>
            </a:r>
          </a:p>
        </p:txBody>
      </p:sp>
      <p:sp>
        <p:nvSpPr>
          <p:cNvPr id="6" name="Rounded Rectangle 5"/>
          <p:cNvSpPr/>
          <p:nvPr/>
        </p:nvSpPr>
        <p:spPr>
          <a:xfrm>
            <a:off x="201168" y="960120"/>
            <a:ext cx="11786616" cy="2103120"/>
          </a:xfrm>
          <a:prstGeom prst="roundRect">
            <a:avLst>
              <a:gd name="adj" fmla="val 5000"/>
            </a:avLst>
          </a:prstGeom>
          <a:solidFill>
            <a:srgbClr val="E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a:lstStyle/>
          <a:p>
            <a:pPr algn="ctr"/>
          </a:p>
        </p:txBody>
      </p:sp>
      <p:sp>
        <p:nvSpPr>
          <p:cNvPr id="7" name="TextBox 6"/>
          <p:cNvSpPr txBox="1"/>
          <p:nvPr/>
        </p:nvSpPr>
        <p:spPr>
          <a:xfrm>
            <a:off x="384048" y="1051560"/>
            <a:ext cx="11420856" cy="256032"/>
          </a:xfrm>
          <a:prstGeom prst="rect">
            <a:avLst/>
          </a:prstGeom>
          <a:noFill/>
        </p:spPr>
        <p:txBody>
          <a:bodyPr wrap="square" lIns="18288" rIns="18288" tIns="0" bIns="0" anchor="ctr">
            <a:spAutoFit/>
          </a:bodyPr>
          <a:lstStyle/>
          <a:p>
            <a:pPr algn="l">
              <a:lnSpc>
                <a:spcPct val="95000"/>
              </a:lnSpc>
              <a:spcAft>
                <a:spcPts val="0"/>
              </a:spcAft>
            </a:pPr>
            <a:r>
              <a:rPr sz="1100" b="1">
                <a:solidFill>
                  <a:srgbClr val="2E6C8B"/>
                </a:solidFill>
                <a:latin typeface="Arial"/>
              </a:rPr>
              <a:t>Evidence base and prior art  —  every title below is a live link</a:t>
            </a:r>
          </a:p>
        </p:txBody>
      </p:sp>
      <p:sp>
        <p:nvSpPr>
          <p:cNvPr id="8" name="TextBox 7"/>
          <p:cNvSpPr txBox="1"/>
          <p:nvPr/>
        </p:nvSpPr>
        <p:spPr>
          <a:xfrm>
            <a:off x="384048" y="1417320"/>
            <a:ext cx="3715512" cy="1554480"/>
          </a:xfrm>
          <a:prstGeom prst="rect">
            <a:avLst/>
          </a:prstGeom>
          <a:noFill/>
        </p:spPr>
        <p:txBody>
          <a:bodyPr wrap="square" lIns="18288" rIns="18288" tIns="0" bIns="0" anchor="t">
            <a:spAutoFit/>
          </a:bodyPr>
          <a:lstStyle/>
          <a:p>
            <a:pPr algn="l">
              <a:lnSpc>
                <a:spcPct val="95000"/>
              </a:lnSpc>
              <a:spcAft>
                <a:spcPts val="600"/>
              </a:spcAft>
            </a:pPr>
            <a:r>
              <a:rPr sz="1050" b="1">
                <a:solidFill>
                  <a:srgbClr val="1F497D"/>
                </a:solidFill>
                <a:latin typeface="Arial"/>
              </a:rPr>
              <a:t>The problem, in data</a:t>
            </a:r>
          </a:p>
          <a:p>
            <a:pPr algn="l">
              <a:lnSpc>
                <a:spcPct val="95000"/>
              </a:lnSpc>
              <a:spcAft>
                <a:spcPts val="700"/>
              </a:spcAft>
            </a:pPr>
            <a:r>
              <a:rPr sz="900" b="0" u="sng">
                <a:solidFill>
                  <a:srgbClr val="1F497D"/>
                </a:solidFill>
                <a:latin typeface="Arial"/>
                <a:hlinkClick r:id="rId2"/>
              </a:rPr>
              <a:t>›  IAMAI–Kantar — Internet in India 2024</a:t>
            </a:r>
          </a:p>
          <a:p>
            <a:pPr algn="l">
              <a:lnSpc>
                <a:spcPct val="95000"/>
              </a:lnSpc>
              <a:spcAft>
                <a:spcPts val="700"/>
              </a:spcAft>
            </a:pPr>
            <a:r>
              <a:rPr sz="900" b="0" u="sng">
                <a:solidFill>
                  <a:srgbClr val="1F497D"/>
                </a:solidFill>
                <a:latin typeface="Arial"/>
                <a:hlinkClick r:id="rId3"/>
              </a:rPr>
              <a:t>›  NFHS-5 2019–21, IIPS / MoHFW — India report</a:t>
            </a:r>
          </a:p>
          <a:p>
            <a:pPr algn="l">
              <a:lnSpc>
                <a:spcPct val="95000"/>
              </a:lnSpc>
              <a:spcAft>
                <a:spcPts val="700"/>
              </a:spcAft>
            </a:pPr>
            <a:r>
              <a:rPr sz="900" b="0" u="sng">
                <a:solidFill>
                  <a:srgbClr val="1F497D"/>
                </a:solidFill>
                <a:latin typeface="Arial"/>
                <a:hlinkClick r:id="rId4"/>
              </a:rPr>
              <a:t>›  Garimella &amp; Tyson — WhatsApp group data, ICWSM 2018</a:t>
            </a:r>
          </a:p>
          <a:p>
            <a:pPr algn="l">
              <a:lnSpc>
                <a:spcPct val="95000"/>
              </a:lnSpc>
              <a:spcAft>
                <a:spcPts val="700"/>
              </a:spcAft>
            </a:pPr>
            <a:r>
              <a:rPr sz="900" b="0" u="sng">
                <a:solidFill>
                  <a:srgbClr val="1F497D"/>
                </a:solidFill>
                <a:latin typeface="Arial"/>
                <a:hlinkClick r:id="rId5"/>
              </a:rPr>
              <a:t>›  Garimella &amp; Eckles — WhatsApp misinformation, 2020</a:t>
            </a:r>
          </a:p>
          <a:p>
            <a:pPr algn="l">
              <a:lnSpc>
                <a:spcPct val="95000"/>
              </a:lnSpc>
              <a:spcAft>
                <a:spcPts val="700"/>
              </a:spcAft>
            </a:pPr>
            <a:r>
              <a:rPr sz="900" b="0" u="sng">
                <a:solidFill>
                  <a:srgbClr val="1F497D"/>
                </a:solidFill>
                <a:latin typeface="Arial"/>
                <a:hlinkClick r:id="rId6"/>
              </a:rPr>
              <a:t>›  Reis et al. — limiting message forwarding, 2019</a:t>
            </a:r>
          </a:p>
        </p:txBody>
      </p:sp>
      <p:sp>
        <p:nvSpPr>
          <p:cNvPr id="9" name="TextBox 8"/>
          <p:cNvSpPr txBox="1"/>
          <p:nvPr/>
        </p:nvSpPr>
        <p:spPr>
          <a:xfrm>
            <a:off x="4236720" y="1417320"/>
            <a:ext cx="3715512" cy="1554480"/>
          </a:xfrm>
          <a:prstGeom prst="rect">
            <a:avLst/>
          </a:prstGeom>
          <a:noFill/>
        </p:spPr>
        <p:txBody>
          <a:bodyPr wrap="square" lIns="18288" rIns="18288" tIns="0" bIns="0" anchor="t">
            <a:spAutoFit/>
          </a:bodyPr>
          <a:lstStyle/>
          <a:p>
            <a:pPr algn="l">
              <a:lnSpc>
                <a:spcPct val="95000"/>
              </a:lnSpc>
              <a:spcAft>
                <a:spcPts val="600"/>
              </a:spcAft>
            </a:pPr>
            <a:r>
              <a:rPr sz="1050" b="1">
                <a:solidFill>
                  <a:srgbClr val="1F497D"/>
                </a:solidFill>
                <a:latin typeface="Arial"/>
              </a:rPr>
              <a:t>Summarising real conversation</a:t>
            </a:r>
          </a:p>
          <a:p>
            <a:pPr algn="l">
              <a:lnSpc>
                <a:spcPct val="95000"/>
              </a:lnSpc>
              <a:spcAft>
                <a:spcPts val="700"/>
              </a:spcAft>
            </a:pPr>
            <a:r>
              <a:rPr sz="900" b="0" u="sng">
                <a:solidFill>
                  <a:srgbClr val="1F497D"/>
                </a:solidFill>
                <a:latin typeface="Arial"/>
                <a:hlinkClick r:id="rId7"/>
              </a:rPr>
              <a:t>›  Gliwa et al. — SAMSum dialogue corpus, 2019</a:t>
            </a:r>
          </a:p>
          <a:p>
            <a:pPr algn="l">
              <a:lnSpc>
                <a:spcPct val="95000"/>
              </a:lnSpc>
              <a:spcAft>
                <a:spcPts val="700"/>
              </a:spcAft>
            </a:pPr>
            <a:r>
              <a:rPr sz="900" b="0" u="sng">
                <a:solidFill>
                  <a:srgbClr val="1F497D"/>
                </a:solidFill>
                <a:latin typeface="Arial"/>
                <a:hlinkClick r:id="rId8"/>
              </a:rPr>
              <a:t>›  Zhong et al. — DialogLM, long dialogue, AAAI 2022</a:t>
            </a:r>
          </a:p>
          <a:p>
            <a:pPr algn="l">
              <a:lnSpc>
                <a:spcPct val="95000"/>
              </a:lnSpc>
              <a:spcAft>
                <a:spcPts val="700"/>
              </a:spcAft>
            </a:pPr>
            <a:r>
              <a:rPr sz="900" b="0" u="sng">
                <a:solidFill>
                  <a:srgbClr val="1F497D"/>
                </a:solidFill>
                <a:latin typeface="Arial"/>
                <a:hlinkClick r:id="rId9"/>
              </a:rPr>
              <a:t>›  Wu et al. — recursive map-reduce summarising, 2021</a:t>
            </a:r>
          </a:p>
          <a:p>
            <a:pPr algn="l">
              <a:lnSpc>
                <a:spcPct val="95000"/>
              </a:lnSpc>
              <a:spcAft>
                <a:spcPts val="700"/>
              </a:spcAft>
            </a:pPr>
            <a:r>
              <a:rPr sz="900" b="0" u="sng">
                <a:solidFill>
                  <a:srgbClr val="1F497D"/>
                </a:solidFill>
                <a:latin typeface="Arial"/>
                <a:hlinkClick r:id="rId10"/>
              </a:rPr>
              <a:t>›  Feng et al. — dialogue summarisation survey, 2022</a:t>
            </a:r>
          </a:p>
          <a:p>
            <a:pPr algn="l">
              <a:lnSpc>
                <a:spcPct val="95000"/>
              </a:lnSpc>
              <a:spcAft>
                <a:spcPts val="700"/>
              </a:spcAft>
            </a:pPr>
            <a:r>
              <a:rPr sz="900" b="0" u="sng">
                <a:solidFill>
                  <a:srgbClr val="1F497D"/>
                </a:solidFill>
                <a:latin typeface="Arial"/>
                <a:hlinkClick r:id="rId11"/>
              </a:rPr>
              <a:t>›  Lewis et al. — RAG, NeurIPS 2020 (Ask my groups)</a:t>
            </a:r>
          </a:p>
        </p:txBody>
      </p:sp>
      <p:sp>
        <p:nvSpPr>
          <p:cNvPr id="10" name="TextBox 9"/>
          <p:cNvSpPr txBox="1"/>
          <p:nvPr/>
        </p:nvSpPr>
        <p:spPr>
          <a:xfrm>
            <a:off x="8089392" y="1417320"/>
            <a:ext cx="3715512" cy="1554480"/>
          </a:xfrm>
          <a:prstGeom prst="rect">
            <a:avLst/>
          </a:prstGeom>
          <a:noFill/>
        </p:spPr>
        <p:txBody>
          <a:bodyPr wrap="square" lIns="18288" rIns="18288" tIns="0" bIns="0" anchor="t">
            <a:spAutoFit/>
          </a:bodyPr>
          <a:lstStyle/>
          <a:p>
            <a:pPr algn="l">
              <a:lnSpc>
                <a:spcPct val="95000"/>
              </a:lnSpc>
              <a:spcAft>
                <a:spcPts val="600"/>
              </a:spcAft>
            </a:pPr>
            <a:r>
              <a:rPr sz="1050" b="1">
                <a:solidFill>
                  <a:srgbClr val="1F497D"/>
                </a:solidFill>
                <a:latin typeface="Arial"/>
              </a:rPr>
              <a:t>Speech, language and access</a:t>
            </a:r>
          </a:p>
          <a:p>
            <a:pPr algn="l">
              <a:lnSpc>
                <a:spcPct val="95000"/>
              </a:lnSpc>
              <a:spcAft>
                <a:spcPts val="700"/>
              </a:spcAft>
            </a:pPr>
            <a:r>
              <a:rPr sz="900" b="0" u="sng">
                <a:solidFill>
                  <a:srgbClr val="1F497D"/>
                </a:solidFill>
                <a:latin typeface="Arial"/>
                <a:hlinkClick r:id="rId12"/>
              </a:rPr>
              <a:t>›  Radford et al. — Whisper speech-to-text, ICML 2023</a:t>
            </a:r>
          </a:p>
          <a:p>
            <a:pPr algn="l">
              <a:lnSpc>
                <a:spcPct val="95000"/>
              </a:lnSpc>
              <a:spcAft>
                <a:spcPts val="700"/>
              </a:spcAft>
            </a:pPr>
            <a:r>
              <a:rPr sz="900" b="0" u="sng">
                <a:solidFill>
                  <a:srgbClr val="1F497D"/>
                </a:solidFill>
                <a:latin typeface="Arial"/>
                <a:hlinkClick r:id="rId13"/>
              </a:rPr>
              <a:t>›  Gala et al. — IndicTrans2, all 22 languages, 2023</a:t>
            </a:r>
          </a:p>
          <a:p>
            <a:pPr algn="l">
              <a:lnSpc>
                <a:spcPct val="95000"/>
              </a:lnSpc>
              <a:spcAft>
                <a:spcPts val="700"/>
              </a:spcAft>
            </a:pPr>
            <a:r>
              <a:rPr sz="900" b="0" u="sng">
                <a:solidFill>
                  <a:srgbClr val="1F497D"/>
                </a:solidFill>
                <a:latin typeface="Arial"/>
                <a:hlinkClick r:id="rId14"/>
              </a:rPr>
              <a:t>›  Zhang et al. — PEGASUS summarisation, ICML 2020</a:t>
            </a:r>
          </a:p>
          <a:p>
            <a:pPr algn="l">
              <a:lnSpc>
                <a:spcPct val="95000"/>
              </a:lnSpc>
              <a:spcAft>
                <a:spcPts val="700"/>
              </a:spcAft>
            </a:pPr>
            <a:r>
              <a:rPr sz="900" b="0" u="sng">
                <a:solidFill>
                  <a:srgbClr val="1F497D"/>
                </a:solidFill>
                <a:latin typeface="Arial"/>
                <a:hlinkClick r:id="rId15"/>
              </a:rPr>
              <a:t>›  W3C — WCAG 2.2 accessibility guidelines</a:t>
            </a:r>
          </a:p>
          <a:p>
            <a:pPr algn="l">
              <a:lnSpc>
                <a:spcPct val="95000"/>
              </a:lnSpc>
              <a:spcAft>
                <a:spcPts val="700"/>
              </a:spcAft>
            </a:pPr>
            <a:r>
              <a:rPr sz="900" b="0" u="sng">
                <a:solidFill>
                  <a:srgbClr val="1F497D"/>
                </a:solidFill>
                <a:latin typeface="Arial"/>
                <a:hlinkClick r:id="rId16"/>
              </a:rPr>
              <a:t>›  MeitY — Digital Personal Data Protection Act 2023</a:t>
            </a:r>
          </a:p>
        </p:txBody>
      </p:sp>
      <p:sp>
        <p:nvSpPr>
          <p:cNvPr id="11" name="Rounded Rectangle 10"/>
          <p:cNvSpPr/>
          <p:nvPr/>
        </p:nvSpPr>
        <p:spPr>
          <a:xfrm>
            <a:off x="201168" y="3246120"/>
            <a:ext cx="2864358" cy="1874519"/>
          </a:xfrm>
          <a:prstGeom prst="roundRect">
            <a:avLst>
              <a:gd name="adj" fmla="val 1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ctr">
              <a:lnSpc>
                <a:spcPct val="95000"/>
              </a:lnSpc>
              <a:spcAft>
                <a:spcPts val="500"/>
              </a:spcAft>
            </a:pPr>
            <a:r>
              <a:rPr sz="1050" b="1">
                <a:solidFill>
                  <a:srgbClr val="000000"/>
                </a:solidFill>
                <a:latin typeface="Arial"/>
              </a:rPr>
              <a:t>ADOPTION &amp; SUSTAINABILITY</a:t>
            </a:r>
          </a:p>
          <a:p>
            <a:pPr algn="l">
              <a:lnSpc>
                <a:spcPct val="95000"/>
              </a:lnSpc>
              <a:spcAft>
                <a:spcPts val="400"/>
              </a:spcAft>
            </a:pPr>
            <a:r>
              <a:rPr sz="900" b="0">
                <a:solidFill>
                  <a:srgbClr val="000000"/>
                </a:solidFill>
                <a:latin typeface="Arial"/>
              </a:rPr>
              <a:t>•  Free forever for individuals.</a:t>
            </a:r>
          </a:p>
          <a:p>
            <a:pPr algn="l">
              <a:lnSpc>
                <a:spcPct val="95000"/>
              </a:lnSpc>
              <a:spcAft>
                <a:spcPts val="400"/>
              </a:spcAft>
            </a:pPr>
            <a:r>
              <a:rPr sz="900" b="0">
                <a:solidFill>
                  <a:srgbClr val="000000"/>
                </a:solidFill>
                <a:latin typeface="Arial"/>
              </a:rPr>
              <a:t>•  Community box for schools, NGOs and panchayats: ₹499–₹4,999 a month.</a:t>
            </a:r>
          </a:p>
          <a:p>
            <a:pPr algn="l">
              <a:lnSpc>
                <a:spcPct val="95000"/>
              </a:lnSpc>
              <a:spcAft>
                <a:spcPts val="400"/>
              </a:spcAft>
            </a:pPr>
            <a:r>
              <a:rPr sz="900" b="0">
                <a:solidFill>
                  <a:srgbClr val="000000"/>
                </a:solidFill>
                <a:latin typeface="Arial"/>
              </a:rPr>
              <a:t>•  Open-source core — any state or NGO can self-host and audit it.</a:t>
            </a:r>
          </a:p>
        </p:txBody>
      </p:sp>
      <p:sp>
        <p:nvSpPr>
          <p:cNvPr id="12" name="Rounded Rectangle 11"/>
          <p:cNvSpPr/>
          <p:nvPr/>
        </p:nvSpPr>
        <p:spPr>
          <a:xfrm>
            <a:off x="3175254" y="3246120"/>
            <a:ext cx="2864358" cy="1874519"/>
          </a:xfrm>
          <a:prstGeom prst="roundRect">
            <a:avLst>
              <a:gd name="adj" fmla="val 1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ctr">
              <a:lnSpc>
                <a:spcPct val="95000"/>
              </a:lnSpc>
              <a:spcAft>
                <a:spcPts val="500"/>
              </a:spcAft>
            </a:pPr>
            <a:r>
              <a:rPr sz="1050" b="1">
                <a:solidFill>
                  <a:srgbClr val="000000"/>
                </a:solidFill>
                <a:latin typeface="Arial"/>
              </a:rPr>
              <a:t>VALIDATION PLAN</a:t>
            </a:r>
          </a:p>
          <a:p>
            <a:pPr algn="l">
              <a:lnSpc>
                <a:spcPct val="95000"/>
              </a:lnSpc>
              <a:spcAft>
                <a:spcPts val="400"/>
              </a:spcAft>
            </a:pPr>
            <a:r>
              <a:rPr sz="900" b="0">
                <a:solidFill>
                  <a:srgbClr val="000000"/>
                </a:solidFill>
                <a:latin typeface="Arial"/>
              </a:rPr>
              <a:t>•  8-week pilot: 3 school, 2 SHG and 1 panchayat group.</a:t>
            </a:r>
          </a:p>
          <a:p>
            <a:pPr algn="l">
              <a:lnSpc>
                <a:spcPct val="95000"/>
              </a:lnSpc>
              <a:spcAft>
                <a:spcPts val="400"/>
              </a:spcAft>
            </a:pPr>
            <a:r>
              <a:rPr sz="900" b="0">
                <a:solidFill>
                  <a:srgbClr val="000000"/>
                </a:solidFill>
                <a:latin typeface="Arial"/>
              </a:rPr>
              <a:t>•  Measured: deadlines caught, minutes saved, trust rating.</a:t>
            </a:r>
          </a:p>
          <a:p>
            <a:pPr algn="l">
              <a:lnSpc>
                <a:spcPct val="95000"/>
              </a:lnSpc>
              <a:spcAft>
                <a:spcPts val="400"/>
              </a:spcAft>
            </a:pPr>
            <a:r>
              <a:rPr sz="900" b="0">
                <a:solidFill>
                  <a:srgbClr val="000000"/>
                </a:solidFill>
                <a:latin typeface="Arial"/>
              </a:rPr>
              <a:t>•  Tested with screen readers and with non-reading users.</a:t>
            </a:r>
          </a:p>
        </p:txBody>
      </p:sp>
      <p:sp>
        <p:nvSpPr>
          <p:cNvPr id="13" name="Rounded Rectangle 12"/>
          <p:cNvSpPr/>
          <p:nvPr/>
        </p:nvSpPr>
        <p:spPr>
          <a:xfrm>
            <a:off x="6149340" y="3246120"/>
            <a:ext cx="2864358" cy="1874519"/>
          </a:xfrm>
          <a:prstGeom prst="roundRect">
            <a:avLst>
              <a:gd name="adj" fmla="val 1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ctr">
              <a:lnSpc>
                <a:spcPct val="95000"/>
              </a:lnSpc>
              <a:spcAft>
                <a:spcPts val="500"/>
              </a:spcAft>
            </a:pPr>
            <a:r>
              <a:rPr sz="1050" b="1">
                <a:solidFill>
                  <a:srgbClr val="000000"/>
                </a:solidFill>
                <a:latin typeface="Arial"/>
              </a:rPr>
              <a:t>STANDARDS &amp; COMPLIANCE</a:t>
            </a:r>
          </a:p>
          <a:p>
            <a:pPr algn="l">
              <a:lnSpc>
                <a:spcPct val="95000"/>
              </a:lnSpc>
              <a:spcAft>
                <a:spcPts val="400"/>
              </a:spcAft>
            </a:pPr>
            <a:r>
              <a:rPr sz="900" b="0">
                <a:solidFill>
                  <a:srgbClr val="000000"/>
                </a:solidFill>
                <a:latin typeface="Arial"/>
              </a:rPr>
              <a:t>•  DPDP Act 2023 — consent, purpose limits, erasure.</a:t>
            </a:r>
          </a:p>
          <a:p>
            <a:pPr algn="l">
              <a:lnSpc>
                <a:spcPct val="95000"/>
              </a:lnSpc>
              <a:spcAft>
                <a:spcPts val="400"/>
              </a:spcAft>
            </a:pPr>
            <a:r>
              <a:rPr sz="900" b="0">
                <a:solidFill>
                  <a:srgbClr val="000000"/>
                </a:solidFill>
                <a:latin typeface="Arial"/>
              </a:rPr>
              <a:t>•  WCAG 2.2 AA dashboard; RPwD Act 2016.</a:t>
            </a:r>
          </a:p>
          <a:p>
            <a:pPr algn="l">
              <a:lnSpc>
                <a:spcPct val="95000"/>
              </a:lnSpc>
              <a:spcAft>
                <a:spcPts val="400"/>
              </a:spcAft>
            </a:pPr>
            <a:r>
              <a:rPr sz="900" b="0">
                <a:solidFill>
                  <a:srgbClr val="000000"/>
                </a:solidFill>
                <a:latin typeface="Arial"/>
              </a:rPr>
              <a:t>•  No outbound message to any group, ever.</a:t>
            </a:r>
          </a:p>
        </p:txBody>
      </p:sp>
      <p:sp>
        <p:nvSpPr>
          <p:cNvPr id="14" name="Rounded Rectangle 13"/>
          <p:cNvSpPr/>
          <p:nvPr/>
        </p:nvSpPr>
        <p:spPr>
          <a:xfrm>
            <a:off x="9123426" y="3246120"/>
            <a:ext cx="2864358" cy="1874519"/>
          </a:xfrm>
          <a:prstGeom prst="roundRect">
            <a:avLst>
              <a:gd name="adj" fmla="val 10000"/>
            </a:avLst>
          </a:prstGeom>
          <a:solidFill>
            <a:srgbClr val="F4D7FF"/>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ctr">
              <a:lnSpc>
                <a:spcPct val="95000"/>
              </a:lnSpc>
              <a:spcAft>
                <a:spcPts val="500"/>
              </a:spcAft>
            </a:pPr>
            <a:r>
              <a:rPr sz="1050" b="1">
                <a:solidFill>
                  <a:srgbClr val="000000"/>
                </a:solidFill>
                <a:latin typeface="Arial"/>
              </a:rPr>
              <a:t>BUILT ON  (open links)</a:t>
            </a:r>
          </a:p>
          <a:p>
            <a:pPr algn="l">
              <a:lnSpc>
                <a:spcPct val="95000"/>
              </a:lnSpc>
              <a:spcAft>
                <a:spcPts val="600"/>
              </a:spcAft>
            </a:pPr>
            <a:r>
              <a:rPr sz="900" b="0" u="sng">
                <a:solidFill>
                  <a:srgbClr val="1F497D"/>
                </a:solidFill>
                <a:latin typeface="Arial"/>
                <a:hlinkClick r:id="rId17"/>
              </a:rPr>
              <a:t>•  Baileys — WhatsApp Web library</a:t>
            </a:r>
          </a:p>
          <a:p>
            <a:pPr algn="l">
              <a:lnSpc>
                <a:spcPct val="95000"/>
              </a:lnSpc>
              <a:spcAft>
                <a:spcPts val="600"/>
              </a:spcAft>
            </a:pPr>
            <a:r>
              <a:rPr sz="900" b="0" u="sng">
                <a:solidFill>
                  <a:srgbClr val="1F497D"/>
                </a:solidFill>
                <a:latin typeface="Arial"/>
                <a:hlinkClick r:id="rId18"/>
              </a:rPr>
              <a:t>•  Ollama — on-device models</a:t>
            </a:r>
          </a:p>
          <a:p>
            <a:pPr algn="l">
              <a:lnSpc>
                <a:spcPct val="95000"/>
              </a:lnSpc>
              <a:spcAft>
                <a:spcPts val="600"/>
              </a:spcAft>
            </a:pPr>
            <a:r>
              <a:rPr sz="900" b="0" u="sng">
                <a:solidFill>
                  <a:srgbClr val="1F497D"/>
                </a:solidFill>
                <a:latin typeface="Arial"/>
                <a:hlinkClick r:id="rId19"/>
              </a:rPr>
              <a:t>•  Bhashini — Indian-language APIs</a:t>
            </a:r>
          </a:p>
          <a:p>
            <a:pPr algn="l">
              <a:lnSpc>
                <a:spcPct val="95000"/>
              </a:lnSpc>
              <a:spcAft>
                <a:spcPts val="600"/>
              </a:spcAft>
            </a:pPr>
            <a:r>
              <a:rPr sz="900" b="0" u="sng">
                <a:solidFill>
                  <a:srgbClr val="1F497D"/>
                </a:solidFill>
                <a:latin typeface="Arial"/>
                <a:hlinkClick r:id="rId20"/>
              </a:rPr>
              <a:t>•  WhatsApp Cloud API — migration path</a:t>
            </a:r>
          </a:p>
        </p:txBody>
      </p:sp>
      <p:sp>
        <p:nvSpPr>
          <p:cNvPr id="15" name="Rounded Rectangle 14"/>
          <p:cNvSpPr/>
          <p:nvPr/>
        </p:nvSpPr>
        <p:spPr>
          <a:xfrm>
            <a:off x="201168" y="5321808"/>
            <a:ext cx="11786616" cy="777240"/>
          </a:xfrm>
          <a:prstGeom prst="roundRect">
            <a:avLst>
              <a:gd name="adj" fmla="val 10000"/>
            </a:avLst>
          </a:prstGeom>
          <a:solidFill>
            <a:srgbClr val="33365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ctr">
              <a:lnSpc>
                <a:spcPct val="95000"/>
              </a:lnSpc>
              <a:spcAft>
                <a:spcPts val="300"/>
              </a:spcAft>
            </a:pPr>
            <a:r>
              <a:rPr sz="1300" b="1">
                <a:solidFill>
                  <a:srgbClr val="FFFFFF"/>
                </a:solidFill>
                <a:latin typeface="Arial"/>
              </a:rPr>
              <a:t>Every line of a SAAR digest is traceable to a real message.</a:t>
            </a:r>
          </a:p>
          <a:p>
            <a:pPr algn="ctr">
              <a:lnSpc>
                <a:spcPct val="95000"/>
              </a:lnSpc>
              <a:spcAft>
                <a:spcPts val="0"/>
              </a:spcAft>
            </a:pPr>
            <a:r>
              <a:rPr sz="1050" b="0">
                <a:solidFill>
                  <a:srgbClr val="FFFFFF"/>
                </a:solidFill>
                <a:latin typeface="Arial"/>
              </a:rPr>
              <a:t>Inclusion without asking anyone to trust a black box — or to leave the app they already 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